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Anton" pitchFamily="2" charset="0"/>
      <p:regular r:id="rId21"/>
    </p:embeddedFont>
    <p:embeddedFont>
      <p:font typeface="Prompt" panose="00000500000000000000" pitchFamily="2" charset="-34"/>
      <p:regular r:id="rId22"/>
    </p:embeddedFont>
    <p:embeddedFont>
      <p:font typeface="Prompt Semi-Bold" panose="020B0604020202020204" charset="-3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1622"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4046506" y="7511071"/>
            <a:ext cx="4381832" cy="3248033"/>
          </a:xfrm>
          <a:custGeom>
            <a:avLst/>
            <a:gdLst/>
            <a:ahLst/>
            <a:cxnLst/>
            <a:rect l="l" t="t" r="r" b="b"/>
            <a:pathLst>
              <a:path w="4381832" h="3248033">
                <a:moveTo>
                  <a:pt x="0" y="0"/>
                </a:moveTo>
                <a:lnTo>
                  <a:pt x="4381832" y="0"/>
                </a:lnTo>
                <a:lnTo>
                  <a:pt x="4381832" y="3248033"/>
                </a:lnTo>
                <a:lnTo>
                  <a:pt x="0" y="3248033"/>
                </a:lnTo>
                <a:lnTo>
                  <a:pt x="0" y="0"/>
                </a:lnTo>
                <a:close/>
              </a:path>
            </a:pathLst>
          </a:custGeom>
          <a:blipFill>
            <a:blip r:embed="rId2"/>
            <a:stretch>
              <a:fillRect/>
            </a:stretch>
          </a:blipFill>
        </p:spPr>
        <p:txBody>
          <a:bodyPr/>
          <a:lstStyle/>
          <a:p>
            <a:endParaRPr lang="vi-VN"/>
          </a:p>
        </p:txBody>
      </p:sp>
      <p:sp>
        <p:nvSpPr>
          <p:cNvPr id="3" name="Freeform 3"/>
          <p:cNvSpPr/>
          <p:nvPr/>
        </p:nvSpPr>
        <p:spPr>
          <a:xfrm>
            <a:off x="-4210598" y="56650"/>
            <a:ext cx="8491203" cy="4192531"/>
          </a:xfrm>
          <a:custGeom>
            <a:avLst/>
            <a:gdLst/>
            <a:ahLst/>
            <a:cxnLst/>
            <a:rect l="l" t="t" r="r" b="b"/>
            <a:pathLst>
              <a:path w="8491203" h="4192531">
                <a:moveTo>
                  <a:pt x="0" y="0"/>
                </a:moveTo>
                <a:lnTo>
                  <a:pt x="8491203" y="0"/>
                </a:lnTo>
                <a:lnTo>
                  <a:pt x="8491203" y="4192531"/>
                </a:lnTo>
                <a:lnTo>
                  <a:pt x="0" y="4192531"/>
                </a:lnTo>
                <a:lnTo>
                  <a:pt x="0" y="0"/>
                </a:lnTo>
                <a:close/>
              </a:path>
            </a:pathLst>
          </a:custGeom>
          <a:blipFill>
            <a:blip r:embed="rId3"/>
            <a:stretch>
              <a:fillRect/>
            </a:stretch>
          </a:blipFill>
        </p:spPr>
        <p:txBody>
          <a:bodyPr/>
          <a:lstStyle/>
          <a:p>
            <a:endParaRPr lang="vi-VN"/>
          </a:p>
        </p:txBody>
      </p:sp>
      <p:sp>
        <p:nvSpPr>
          <p:cNvPr id="4" name="Freeform 4"/>
          <p:cNvSpPr/>
          <p:nvPr/>
        </p:nvSpPr>
        <p:spPr>
          <a:xfrm>
            <a:off x="-5048894" y="3936405"/>
            <a:ext cx="8552599" cy="6467903"/>
          </a:xfrm>
          <a:custGeom>
            <a:avLst/>
            <a:gdLst/>
            <a:ahLst/>
            <a:cxnLst/>
            <a:rect l="l" t="t" r="r" b="b"/>
            <a:pathLst>
              <a:path w="8552599" h="6467903">
                <a:moveTo>
                  <a:pt x="0" y="0"/>
                </a:moveTo>
                <a:lnTo>
                  <a:pt x="8552600" y="0"/>
                </a:lnTo>
                <a:lnTo>
                  <a:pt x="8552600" y="6467903"/>
                </a:lnTo>
                <a:lnTo>
                  <a:pt x="0" y="6467903"/>
                </a:lnTo>
                <a:lnTo>
                  <a:pt x="0" y="0"/>
                </a:lnTo>
                <a:close/>
              </a:path>
            </a:pathLst>
          </a:custGeom>
          <a:blipFill>
            <a:blip r:embed="rId4"/>
            <a:stretch>
              <a:fillRect/>
            </a:stretch>
          </a:blipFill>
        </p:spPr>
        <p:txBody>
          <a:bodyPr/>
          <a:lstStyle/>
          <a:p>
            <a:endParaRPr lang="vi-VN"/>
          </a:p>
        </p:txBody>
      </p:sp>
      <p:sp>
        <p:nvSpPr>
          <p:cNvPr id="5" name="TextBox 5"/>
          <p:cNvSpPr txBox="1"/>
          <p:nvPr/>
        </p:nvSpPr>
        <p:spPr>
          <a:xfrm>
            <a:off x="1988306" y="2890324"/>
            <a:ext cx="14311387" cy="3312656"/>
          </a:xfrm>
          <a:prstGeom prst="rect">
            <a:avLst/>
          </a:prstGeom>
        </p:spPr>
        <p:txBody>
          <a:bodyPr lIns="0" tIns="0" rIns="0" bIns="0" rtlCol="0" anchor="t">
            <a:spAutoFit/>
          </a:bodyPr>
          <a:lstStyle/>
          <a:p>
            <a:pPr marL="0" lvl="0" indent="0" algn="ctr">
              <a:lnSpc>
                <a:spcPts val="12831"/>
              </a:lnSpc>
            </a:pPr>
            <a:r>
              <a:rPr lang="en-US" sz="11991">
                <a:solidFill>
                  <a:srgbClr val="000000"/>
                </a:solidFill>
                <a:latin typeface="Anton"/>
                <a:ea typeface="Anton"/>
                <a:cs typeface="Anton"/>
                <a:sym typeface="Anton"/>
              </a:rPr>
              <a:t>CƠ SỞ LẬP TRÌNH</a:t>
            </a:r>
          </a:p>
          <a:p>
            <a:pPr marL="0" lvl="0" indent="0" algn="ctr">
              <a:lnSpc>
                <a:spcPts val="12831"/>
              </a:lnSpc>
            </a:pPr>
            <a:r>
              <a:rPr lang="en-US" sz="11991">
                <a:solidFill>
                  <a:srgbClr val="000000"/>
                </a:solidFill>
                <a:latin typeface="Anton"/>
                <a:ea typeface="Anton"/>
                <a:cs typeface="Anton"/>
                <a:sym typeface="Anton"/>
              </a:rPr>
              <a:t>VỚI GENAI</a:t>
            </a:r>
          </a:p>
        </p:txBody>
      </p:sp>
      <p:sp>
        <p:nvSpPr>
          <p:cNvPr id="6" name="TextBox 6"/>
          <p:cNvSpPr txBox="1"/>
          <p:nvPr/>
        </p:nvSpPr>
        <p:spPr>
          <a:xfrm>
            <a:off x="3005627" y="6145969"/>
            <a:ext cx="12276746" cy="587437"/>
          </a:xfrm>
          <a:prstGeom prst="rect">
            <a:avLst/>
          </a:prstGeom>
        </p:spPr>
        <p:txBody>
          <a:bodyPr lIns="0" tIns="0" rIns="0" bIns="0" rtlCol="0" anchor="t">
            <a:spAutoFit/>
          </a:bodyPr>
          <a:lstStyle/>
          <a:p>
            <a:pPr marL="0" lvl="0" indent="0" algn="ctr">
              <a:lnSpc>
                <a:spcPts val="4896"/>
              </a:lnSpc>
            </a:pPr>
            <a:r>
              <a:rPr lang="en-US" sz="3497" b="1" spc="-52">
                <a:solidFill>
                  <a:srgbClr val="000000"/>
                </a:solidFill>
                <a:latin typeface="Prompt Semi-Bold"/>
                <a:ea typeface="Prompt Semi-Bold"/>
                <a:cs typeface="Prompt Semi-Bold"/>
                <a:sym typeface="Prompt Semi-Bold"/>
              </a:rPr>
              <a:t>Báo cáo Seminar chuyên đề</a:t>
            </a:r>
          </a:p>
        </p:txBody>
      </p:sp>
      <p:sp>
        <p:nvSpPr>
          <p:cNvPr id="7" name="TextBox 7"/>
          <p:cNvSpPr txBox="1"/>
          <p:nvPr/>
        </p:nvSpPr>
        <p:spPr>
          <a:xfrm>
            <a:off x="5091377" y="7388665"/>
            <a:ext cx="8105246" cy="1726615"/>
          </a:xfrm>
          <a:prstGeom prst="rect">
            <a:avLst/>
          </a:prstGeom>
        </p:spPr>
        <p:txBody>
          <a:bodyPr lIns="0" tIns="0" rIns="0" bIns="0" rtlCol="0" anchor="t">
            <a:spAutoFit/>
          </a:bodyPr>
          <a:lstStyle/>
          <a:p>
            <a:pPr marL="0" lvl="0" indent="0" algn="ctr">
              <a:lnSpc>
                <a:spcPts val="4582"/>
              </a:lnSpc>
            </a:pPr>
            <a:r>
              <a:rPr lang="en-US" sz="3273" spc="-49">
                <a:solidFill>
                  <a:srgbClr val="000000"/>
                </a:solidFill>
                <a:latin typeface="Prompt"/>
                <a:ea typeface="Prompt"/>
                <a:cs typeface="Prompt"/>
                <a:sym typeface="Prompt"/>
              </a:rPr>
              <a:t>GVHD: TS. Đỗ Như Tài | Nhóm: Đặng Minh Hào, Lại Trần Trung Kiên, Vũ Văn Minh</a:t>
            </a:r>
          </a:p>
          <a:p>
            <a:pPr marL="0" lvl="0" indent="0" algn="ctr">
              <a:lnSpc>
                <a:spcPts val="4582"/>
              </a:lnSpc>
            </a:pPr>
            <a:r>
              <a:rPr lang="en-US" sz="3273" spc="-49">
                <a:solidFill>
                  <a:srgbClr val="000000"/>
                </a:solidFill>
                <a:latin typeface="Prompt"/>
                <a:ea typeface="Prompt"/>
                <a:cs typeface="Prompt"/>
                <a:sym typeface="Prompt"/>
              </a:rPr>
              <a:t>Lớp: DCT122C2 | Năm: 2026</a:t>
            </a:r>
          </a:p>
        </p:txBody>
      </p:sp>
      <p:sp>
        <p:nvSpPr>
          <p:cNvPr id="8" name="TextBox 8"/>
          <p:cNvSpPr txBox="1"/>
          <p:nvPr/>
        </p:nvSpPr>
        <p:spPr>
          <a:xfrm>
            <a:off x="5091377" y="1551052"/>
            <a:ext cx="8105246" cy="587438"/>
          </a:xfrm>
          <a:prstGeom prst="rect">
            <a:avLst/>
          </a:prstGeom>
        </p:spPr>
        <p:txBody>
          <a:bodyPr lIns="0" tIns="0" rIns="0" bIns="0" rtlCol="0" anchor="t">
            <a:spAutoFit/>
          </a:bodyPr>
          <a:lstStyle/>
          <a:p>
            <a:pPr marL="0" lvl="0" indent="0" algn="ctr">
              <a:lnSpc>
                <a:spcPts val="4896"/>
              </a:lnSpc>
            </a:pPr>
            <a:r>
              <a:rPr lang="en-US" sz="3497" spc="-52">
                <a:solidFill>
                  <a:srgbClr val="000000"/>
                </a:solidFill>
                <a:latin typeface="Prompt"/>
                <a:ea typeface="Prompt"/>
                <a:cs typeface="Prompt"/>
                <a:sym typeface="Prompt"/>
              </a:rPr>
              <a:t>Trường Đại học Sài Gòn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23925"/>
            <a:ext cx="12276746" cy="887188"/>
          </a:xfrm>
          <a:prstGeom prst="rect">
            <a:avLst/>
          </a:prstGeom>
        </p:spPr>
        <p:txBody>
          <a:bodyPr lIns="0" tIns="0" rIns="0" bIns="0" rtlCol="0" anchor="t">
            <a:spAutoFit/>
          </a:bodyPr>
          <a:lstStyle/>
          <a:p>
            <a:pPr marL="0" lvl="0" indent="0" algn="ctr">
              <a:lnSpc>
                <a:spcPts val="7274"/>
              </a:lnSpc>
            </a:pPr>
            <a:r>
              <a:rPr lang="en-US" sz="5196" b="1" spc="-77">
                <a:solidFill>
                  <a:srgbClr val="000000"/>
                </a:solidFill>
                <a:latin typeface="Prompt Semi-Bold"/>
                <a:ea typeface="Prompt Semi-Bold"/>
                <a:cs typeface="Prompt Semi-Bold"/>
                <a:sym typeface="Prompt Semi-Bold"/>
              </a:rPr>
              <a:t>Mục lục</a:t>
            </a:r>
          </a:p>
        </p:txBody>
      </p:sp>
      <p:sp>
        <p:nvSpPr>
          <p:cNvPr id="3" name="TextBox 3"/>
          <p:cNvSpPr txBox="1"/>
          <p:nvPr/>
        </p:nvSpPr>
        <p:spPr>
          <a:xfrm>
            <a:off x="1988306" y="2064768"/>
            <a:ext cx="14311387" cy="3948430"/>
          </a:xfrm>
          <a:prstGeom prst="rect">
            <a:avLst/>
          </a:prstGeom>
        </p:spPr>
        <p:txBody>
          <a:bodyPr lIns="0" tIns="0" rIns="0" bIns="0" rtlCol="0" anchor="t">
            <a:spAutoFit/>
          </a:bodyPr>
          <a:lstStyle/>
          <a:p>
            <a:pPr marL="604519" lvl="1" indent="-302260" algn="just">
              <a:lnSpc>
                <a:spcPts val="3919"/>
              </a:lnSpc>
              <a:buAutoNum type="arabicPeriod"/>
            </a:pPr>
            <a:r>
              <a:rPr lang="en-US" sz="2799" spc="-41">
                <a:solidFill>
                  <a:srgbClr val="000000"/>
                </a:solidFill>
                <a:latin typeface="Prompt"/>
                <a:ea typeface="Prompt"/>
                <a:cs typeface="Prompt"/>
                <a:sym typeface="Prompt"/>
              </a:rPr>
              <a:t>Giới thiệu tổng quan</a:t>
            </a:r>
          </a:p>
          <a:p>
            <a:pPr marL="604519" lvl="1" indent="-302260" algn="just">
              <a:lnSpc>
                <a:spcPts val="3919"/>
              </a:lnSpc>
              <a:buAutoNum type="arabicPeriod"/>
            </a:pPr>
            <a:r>
              <a:rPr lang="en-US" sz="2799" spc="-41">
                <a:solidFill>
                  <a:srgbClr val="000000"/>
                </a:solidFill>
                <a:latin typeface="Prompt"/>
                <a:ea typeface="Prompt"/>
                <a:cs typeface="Prompt"/>
                <a:sym typeface="Prompt"/>
              </a:rPr>
              <a:t>Cách LLM hoạt động</a:t>
            </a:r>
          </a:p>
          <a:p>
            <a:pPr marL="604519" lvl="1" indent="-302260" algn="just">
              <a:lnSpc>
                <a:spcPts val="3919"/>
              </a:lnSpc>
              <a:buAutoNum type="arabicPeriod"/>
            </a:pPr>
            <a:r>
              <a:rPr lang="en-US" sz="2799" spc="-41">
                <a:solidFill>
                  <a:srgbClr val="000000"/>
                </a:solidFill>
                <a:latin typeface="Prompt"/>
                <a:ea typeface="Prompt"/>
                <a:cs typeface="Prompt"/>
                <a:sym typeface="Prompt"/>
              </a:rPr>
              <a:t>Đọc hiểu mã nguồn với GenAI</a:t>
            </a:r>
          </a:p>
          <a:p>
            <a:pPr marL="604519" lvl="1" indent="-302260" algn="just">
              <a:lnSpc>
                <a:spcPts val="3919"/>
              </a:lnSpc>
              <a:buAutoNum type="arabicPeriod"/>
            </a:pPr>
            <a:r>
              <a:rPr lang="en-US" sz="2799" spc="-41">
                <a:solidFill>
                  <a:srgbClr val="000000"/>
                </a:solidFill>
                <a:latin typeface="Prompt"/>
                <a:ea typeface="Prompt"/>
                <a:cs typeface="Prompt"/>
                <a:sym typeface="Prompt"/>
              </a:rPr>
              <a:t>Kỹ thuật Prompt Engineering</a:t>
            </a:r>
          </a:p>
          <a:p>
            <a:pPr marL="604519" lvl="1" indent="-302260" algn="just">
              <a:lnSpc>
                <a:spcPts val="3919"/>
              </a:lnSpc>
              <a:buAutoNum type="arabicPeriod"/>
            </a:pPr>
            <a:r>
              <a:rPr lang="en-US" sz="2799" spc="-41">
                <a:solidFill>
                  <a:srgbClr val="000000"/>
                </a:solidFill>
                <a:latin typeface="Prompt"/>
                <a:ea typeface="Prompt"/>
                <a:cs typeface="Prompt"/>
                <a:sym typeface="Prompt"/>
              </a:rPr>
              <a:t>Kỹ thuật nâng cao trong lập trình</a:t>
            </a:r>
          </a:p>
          <a:p>
            <a:pPr marL="604519" lvl="1" indent="-302260" algn="just">
              <a:lnSpc>
                <a:spcPts val="3919"/>
              </a:lnSpc>
              <a:buAutoNum type="arabicPeriod"/>
            </a:pPr>
            <a:r>
              <a:rPr lang="en-US" sz="2799" spc="-41">
                <a:solidFill>
                  <a:srgbClr val="000000"/>
                </a:solidFill>
                <a:latin typeface="Prompt"/>
                <a:ea typeface="Prompt"/>
                <a:cs typeface="Prompt"/>
                <a:sym typeface="Prompt"/>
              </a:rPr>
              <a:t>Refactoring code với GenAI</a:t>
            </a:r>
          </a:p>
          <a:p>
            <a:pPr marL="604519" lvl="1" indent="-302260" algn="just">
              <a:lnSpc>
                <a:spcPts val="3919"/>
              </a:lnSpc>
              <a:buAutoNum type="arabicPeriod"/>
            </a:pPr>
            <a:r>
              <a:rPr lang="en-US" sz="2799" spc="-41">
                <a:solidFill>
                  <a:srgbClr val="000000"/>
                </a:solidFill>
                <a:latin typeface="Prompt"/>
                <a:ea typeface="Prompt"/>
                <a:cs typeface="Prompt"/>
                <a:sym typeface="Prompt"/>
              </a:rPr>
              <a:t>Fine-tuning mô hình</a:t>
            </a:r>
          </a:p>
          <a:p>
            <a:pPr marL="604519" lvl="1" indent="-302260" algn="just">
              <a:lnSpc>
                <a:spcPts val="3919"/>
              </a:lnSpc>
              <a:buAutoNum type="arabicPeriod"/>
            </a:pPr>
            <a:r>
              <a:rPr lang="en-US" sz="2799" spc="-41">
                <a:solidFill>
                  <a:srgbClr val="000000"/>
                </a:solidFill>
                <a:latin typeface="Prompt"/>
                <a:ea typeface="Prompt"/>
                <a:cs typeface="Prompt"/>
                <a:sym typeface="Prompt"/>
              </a:rPr>
              <a:t>Kết luận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940576" y="6669390"/>
            <a:ext cx="3050250" cy="4813018"/>
          </a:xfrm>
          <a:custGeom>
            <a:avLst/>
            <a:gdLst/>
            <a:ahLst/>
            <a:cxnLst/>
            <a:rect l="l" t="t" r="r" b="b"/>
            <a:pathLst>
              <a:path w="3050250" h="4813018">
                <a:moveTo>
                  <a:pt x="0" y="0"/>
                </a:moveTo>
                <a:lnTo>
                  <a:pt x="3050251" y="0"/>
                </a:lnTo>
                <a:lnTo>
                  <a:pt x="3050251" y="4813018"/>
                </a:lnTo>
                <a:lnTo>
                  <a:pt x="0" y="4813018"/>
                </a:lnTo>
                <a:lnTo>
                  <a:pt x="0" y="0"/>
                </a:lnTo>
                <a:close/>
              </a:path>
            </a:pathLst>
          </a:custGeom>
          <a:blipFill>
            <a:blip r:embed="rId2"/>
            <a:stretch>
              <a:fillRect/>
            </a:stretch>
          </a:blipFill>
        </p:spPr>
        <p:txBody>
          <a:bodyPr/>
          <a:lstStyle/>
          <a:p>
            <a:endParaRPr lang="vi-VN"/>
          </a:p>
        </p:txBody>
      </p:sp>
      <p:sp>
        <p:nvSpPr>
          <p:cNvPr id="3" name="Freeform 3"/>
          <p:cNvSpPr/>
          <p:nvPr/>
        </p:nvSpPr>
        <p:spPr>
          <a:xfrm>
            <a:off x="15083719" y="7456912"/>
            <a:ext cx="3835624" cy="3081075"/>
          </a:xfrm>
          <a:custGeom>
            <a:avLst/>
            <a:gdLst/>
            <a:ahLst/>
            <a:cxnLst/>
            <a:rect l="l" t="t" r="r" b="b"/>
            <a:pathLst>
              <a:path w="3835624" h="3081075">
                <a:moveTo>
                  <a:pt x="0" y="0"/>
                </a:moveTo>
                <a:lnTo>
                  <a:pt x="3835624" y="0"/>
                </a:lnTo>
                <a:lnTo>
                  <a:pt x="3835624" y="3081075"/>
                </a:lnTo>
                <a:lnTo>
                  <a:pt x="0" y="3081075"/>
                </a:lnTo>
                <a:lnTo>
                  <a:pt x="0" y="0"/>
                </a:lnTo>
                <a:close/>
              </a:path>
            </a:pathLst>
          </a:custGeom>
          <a:blipFill>
            <a:blip r:embed="rId3"/>
            <a:stretch>
              <a:fillRect/>
            </a:stretch>
          </a:blipFill>
        </p:spPr>
        <p:txBody>
          <a:bodyPr/>
          <a:lstStyle/>
          <a:p>
            <a:endParaRPr lang="vi-VN"/>
          </a:p>
        </p:txBody>
      </p:sp>
      <p:sp>
        <p:nvSpPr>
          <p:cNvPr id="4" name="TextBox 4"/>
          <p:cNvSpPr txBox="1"/>
          <p:nvPr/>
        </p:nvSpPr>
        <p:spPr>
          <a:xfrm>
            <a:off x="3005627" y="923925"/>
            <a:ext cx="12276746" cy="887188"/>
          </a:xfrm>
          <a:prstGeom prst="rect">
            <a:avLst/>
          </a:prstGeom>
        </p:spPr>
        <p:txBody>
          <a:bodyPr lIns="0" tIns="0" rIns="0" bIns="0" rtlCol="0" anchor="t">
            <a:spAutoFit/>
          </a:bodyPr>
          <a:lstStyle/>
          <a:p>
            <a:pPr marL="0" lvl="0" indent="0" algn="ctr">
              <a:lnSpc>
                <a:spcPts val="7274"/>
              </a:lnSpc>
            </a:pPr>
            <a:r>
              <a:rPr lang="en-US" sz="5196" b="1" spc="-77">
                <a:solidFill>
                  <a:srgbClr val="000000"/>
                </a:solidFill>
                <a:latin typeface="Prompt Semi-Bold"/>
                <a:ea typeface="Prompt Semi-Bold"/>
                <a:cs typeface="Prompt Semi-Bold"/>
                <a:sym typeface="Prompt Semi-Bold"/>
              </a:rPr>
              <a:t>Giới thiệu tổng quan</a:t>
            </a:r>
          </a:p>
        </p:txBody>
      </p:sp>
      <p:sp>
        <p:nvSpPr>
          <p:cNvPr id="5" name="TextBox 5"/>
          <p:cNvSpPr txBox="1"/>
          <p:nvPr/>
        </p:nvSpPr>
        <p:spPr>
          <a:xfrm>
            <a:off x="1988306" y="2064768"/>
            <a:ext cx="14311387"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GenAI (Generative AI) đang thay đổi cách lập trình viên làm việc. Các công cụ như ChatGPT, GitHub Copilot giúp sinh code tự động, hiểu và tối ưu mã nguồn, đồng thời hỗ trợ học tập và nghiên cứu hiệu quả.</a:t>
            </a:r>
          </a:p>
        </p:txBody>
      </p:sp>
      <p:sp>
        <p:nvSpPr>
          <p:cNvPr id="6" name="TextBox 6"/>
          <p:cNvSpPr txBox="1"/>
          <p:nvPr/>
        </p:nvSpPr>
        <p:spPr>
          <a:xfrm>
            <a:off x="1988306" y="4774948"/>
            <a:ext cx="14311387"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Mục tiêu của seminar: Hiểu cơ chế hoạt động và ứng dụng GenAI trong lập trình. Từ đó, lập trình viên có thể tận dụng công nghệ này để nâng cao năng suất và chất lượng phần mềm.</a:t>
            </a:r>
          </a:p>
        </p:txBody>
      </p:sp>
      <p:pic>
        <p:nvPicPr>
          <p:cNvPr id="10" name="Picture 9">
            <a:extLst>
              <a:ext uri="{FF2B5EF4-FFF2-40B4-BE49-F238E27FC236}">
                <a16:creationId xmlns:a16="http://schemas.microsoft.com/office/drawing/2014/main" id="{E4BEBD31-1E9D-F577-D3F0-24F1594487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93545" y="8339934"/>
            <a:ext cx="1737361" cy="1471930"/>
          </a:xfrm>
          <a:prstGeom prst="rect">
            <a:avLst/>
          </a:prstGeom>
        </p:spPr>
      </p:pic>
      <p:pic>
        <p:nvPicPr>
          <p:cNvPr id="12" name="Picture 11">
            <a:extLst>
              <a:ext uri="{FF2B5EF4-FFF2-40B4-BE49-F238E27FC236}">
                <a16:creationId xmlns:a16="http://schemas.microsoft.com/office/drawing/2014/main" id="{9DCC9083-64EF-161D-4B22-D7EFA7E0A1A2}"/>
              </a:ext>
            </a:extLst>
          </p:cNvPr>
          <p:cNvPicPr>
            <a:picLocks noChangeAspect="1"/>
          </p:cNvPicPr>
          <p:nvPr/>
        </p:nvPicPr>
        <p:blipFill>
          <a:blip r:embed="rId4"/>
          <a:stretch>
            <a:fillRect/>
          </a:stretch>
        </p:blipFill>
        <p:spPr>
          <a:xfrm>
            <a:off x="13871341" y="6880111"/>
            <a:ext cx="1428238" cy="121003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2942333" y="3275342"/>
            <a:ext cx="4635062" cy="4044092"/>
          </a:xfrm>
          <a:custGeom>
            <a:avLst/>
            <a:gdLst/>
            <a:ahLst/>
            <a:cxnLst/>
            <a:rect l="l" t="t" r="r" b="b"/>
            <a:pathLst>
              <a:path w="4635062" h="4044092">
                <a:moveTo>
                  <a:pt x="0" y="0"/>
                </a:moveTo>
                <a:lnTo>
                  <a:pt x="4635062" y="0"/>
                </a:lnTo>
                <a:lnTo>
                  <a:pt x="4635062" y="4044092"/>
                </a:lnTo>
                <a:lnTo>
                  <a:pt x="0" y="4044092"/>
                </a:lnTo>
                <a:lnTo>
                  <a:pt x="0" y="0"/>
                </a:lnTo>
                <a:close/>
              </a:path>
            </a:pathLst>
          </a:custGeom>
          <a:blipFill>
            <a:blip r:embed="rId2"/>
            <a:stretch>
              <a:fillRect/>
            </a:stretch>
          </a:blipFill>
        </p:spPr>
        <p:txBody>
          <a:bodyPr/>
          <a:lstStyle/>
          <a:p>
            <a:endParaRPr lang="vi-VN"/>
          </a:p>
        </p:txBody>
      </p:sp>
      <p:sp>
        <p:nvSpPr>
          <p:cNvPr id="3" name="TextBox 3"/>
          <p:cNvSpPr txBox="1"/>
          <p:nvPr/>
        </p:nvSpPr>
        <p:spPr>
          <a:xfrm>
            <a:off x="3005627" y="942975"/>
            <a:ext cx="12276746" cy="876907"/>
          </a:xfrm>
          <a:prstGeom prst="rect">
            <a:avLst/>
          </a:prstGeom>
        </p:spPr>
        <p:txBody>
          <a:bodyPr lIns="0" tIns="0" rIns="0" bIns="0" rtlCol="0" anchor="t">
            <a:spAutoFit/>
          </a:bodyPr>
          <a:lstStyle/>
          <a:p>
            <a:pPr marL="0" lvl="0" indent="0" algn="ctr">
              <a:lnSpc>
                <a:spcPts val="7274"/>
              </a:lnSpc>
            </a:pPr>
            <a:r>
              <a:rPr lang="en-US" sz="5196" dirty="0" err="1">
                <a:solidFill>
                  <a:srgbClr val="000000"/>
                </a:solidFill>
                <a:latin typeface="Anton"/>
                <a:ea typeface="Anton"/>
                <a:cs typeface="Anton"/>
                <a:sym typeface="Anton"/>
              </a:rPr>
              <a:t>Chương</a:t>
            </a:r>
            <a:r>
              <a:rPr lang="en-US" sz="5196" dirty="0">
                <a:solidFill>
                  <a:srgbClr val="000000"/>
                </a:solidFill>
                <a:latin typeface="Anton"/>
                <a:ea typeface="Anton"/>
                <a:cs typeface="Anton"/>
                <a:sym typeface="Anton"/>
              </a:rPr>
              <a:t> 6: Cách LLM </a:t>
            </a:r>
            <a:r>
              <a:rPr lang="en-US" sz="5196" dirty="0" err="1">
                <a:solidFill>
                  <a:srgbClr val="000000"/>
                </a:solidFill>
                <a:latin typeface="Anton"/>
                <a:ea typeface="Anton"/>
                <a:cs typeface="Anton"/>
                <a:sym typeface="Anton"/>
              </a:rPr>
              <a:t>hoạt</a:t>
            </a:r>
            <a:r>
              <a:rPr lang="en-US" sz="5196" dirty="0">
                <a:solidFill>
                  <a:srgbClr val="000000"/>
                </a:solidFill>
                <a:latin typeface="Anton"/>
                <a:ea typeface="Anton"/>
                <a:cs typeface="Anton"/>
                <a:sym typeface="Anton"/>
              </a:rPr>
              <a:t> </a:t>
            </a:r>
            <a:r>
              <a:rPr lang="en-US" sz="5196" dirty="0" err="1">
                <a:solidFill>
                  <a:srgbClr val="000000"/>
                </a:solidFill>
                <a:latin typeface="Anton"/>
                <a:ea typeface="Anton"/>
                <a:cs typeface="Anton"/>
                <a:sym typeface="Anton"/>
              </a:rPr>
              <a:t>động</a:t>
            </a:r>
            <a:endParaRPr lang="en-US" sz="5196" dirty="0">
              <a:solidFill>
                <a:srgbClr val="000000"/>
              </a:solidFill>
              <a:latin typeface="Anton"/>
              <a:ea typeface="Anton"/>
              <a:cs typeface="Anton"/>
              <a:sym typeface="Anton"/>
            </a:endParaRPr>
          </a:p>
        </p:txBody>
      </p:sp>
      <p:sp>
        <p:nvSpPr>
          <p:cNvPr id="4" name="TextBox 4"/>
          <p:cNvSpPr txBox="1"/>
          <p:nvPr/>
        </p:nvSpPr>
        <p:spPr>
          <a:xfrm>
            <a:off x="1988306" y="2064768"/>
            <a:ext cx="14311387" cy="587437"/>
          </a:xfrm>
          <a:prstGeom prst="rect">
            <a:avLst/>
          </a:prstGeom>
        </p:spPr>
        <p:txBody>
          <a:bodyPr lIns="0" tIns="0" rIns="0" bIns="0" rtlCol="0" anchor="t">
            <a:spAutoFit/>
          </a:bodyPr>
          <a:lstStyle/>
          <a:p>
            <a:pPr marL="0" lvl="0" indent="0" algn="just">
              <a:lnSpc>
                <a:spcPts val="4896"/>
              </a:lnSpc>
            </a:pPr>
            <a:r>
              <a:rPr lang="en-US" sz="3497" b="1" spc="-52">
                <a:solidFill>
                  <a:srgbClr val="000000"/>
                </a:solidFill>
                <a:latin typeface="Prompt Semi-Bold"/>
                <a:ea typeface="Prompt Semi-Bold"/>
                <a:cs typeface="Prompt Semi-Bold"/>
                <a:sym typeface="Prompt Semi-Bold"/>
              </a:rPr>
              <a:t>Nguyên lý: Dự đoán phần tử tiếp theo dựa trên ngữ cảnh</a:t>
            </a:r>
          </a:p>
        </p:txBody>
      </p:sp>
      <p:sp>
        <p:nvSpPr>
          <p:cNvPr id="5" name="TextBox 5"/>
          <p:cNvSpPr txBox="1"/>
          <p:nvPr/>
        </p:nvSpPr>
        <p:spPr>
          <a:xfrm>
            <a:off x="1965818" y="2824354"/>
            <a:ext cx="10467413" cy="1967280"/>
          </a:xfrm>
          <a:prstGeom prst="rect">
            <a:avLst/>
          </a:prstGeom>
        </p:spPr>
        <p:txBody>
          <a:bodyPr lIns="0" tIns="0" rIns="0" bIns="0" rtlCol="0" anchor="t">
            <a:spAutoFit/>
          </a:bodyPr>
          <a:lstStyle/>
          <a:p>
            <a:pPr marL="0" lvl="0" indent="0" algn="just">
              <a:lnSpc>
                <a:spcPts val="3917"/>
              </a:lnSpc>
            </a:pPr>
            <a:r>
              <a:rPr lang="en-US" sz="2798" spc="-41">
                <a:solidFill>
                  <a:srgbClr val="000000"/>
                </a:solidFill>
                <a:latin typeface="Prompt"/>
                <a:ea typeface="Prompt"/>
                <a:cs typeface="Prompt"/>
                <a:sym typeface="Prompt"/>
              </a:rPr>
              <a:t>Các giai đoạn phát triển:</a:t>
            </a:r>
          </a:p>
          <a:p>
            <a:pPr marL="0" lvl="0" indent="0" algn="just">
              <a:lnSpc>
                <a:spcPts val="3917"/>
              </a:lnSpc>
            </a:pPr>
            <a:r>
              <a:rPr lang="en-US" sz="2798" spc="-41">
                <a:solidFill>
                  <a:srgbClr val="000000"/>
                </a:solidFill>
                <a:latin typeface="Prompt"/>
                <a:ea typeface="Prompt"/>
                <a:cs typeface="Prompt"/>
                <a:sym typeface="Prompt"/>
              </a:rPr>
              <a:t>• Mô hình thống kê (N-gram)</a:t>
            </a:r>
          </a:p>
          <a:p>
            <a:pPr marL="0" lvl="0" indent="0" algn="just">
              <a:lnSpc>
                <a:spcPts val="3917"/>
              </a:lnSpc>
            </a:pPr>
            <a:r>
              <a:rPr lang="en-US" sz="2798" spc="-41">
                <a:solidFill>
                  <a:srgbClr val="000000"/>
                </a:solidFill>
                <a:latin typeface="Prompt"/>
                <a:ea typeface="Prompt"/>
                <a:cs typeface="Prompt"/>
                <a:sym typeface="Prompt"/>
              </a:rPr>
              <a:t>• Word2Vec – biểu diễn từ bằng vector</a:t>
            </a:r>
          </a:p>
          <a:p>
            <a:pPr marL="0" lvl="0" indent="0" algn="just">
              <a:lnSpc>
                <a:spcPts val="3917"/>
              </a:lnSpc>
            </a:pPr>
            <a:r>
              <a:rPr lang="en-US" sz="2798" spc="-41">
                <a:solidFill>
                  <a:srgbClr val="000000"/>
                </a:solidFill>
                <a:latin typeface="Prompt"/>
                <a:ea typeface="Prompt"/>
                <a:cs typeface="Prompt"/>
                <a:sym typeface="Prompt"/>
              </a:rPr>
              <a:t>• Transformer – nền tảng của GPT, Copilot</a:t>
            </a:r>
          </a:p>
        </p:txBody>
      </p:sp>
      <p:sp>
        <p:nvSpPr>
          <p:cNvPr id="6" name="TextBox 6"/>
          <p:cNvSpPr txBox="1"/>
          <p:nvPr/>
        </p:nvSpPr>
        <p:spPr>
          <a:xfrm>
            <a:off x="1988306" y="5795392"/>
            <a:ext cx="14311387" cy="587437"/>
          </a:xfrm>
          <a:prstGeom prst="rect">
            <a:avLst/>
          </a:prstGeom>
        </p:spPr>
        <p:txBody>
          <a:bodyPr lIns="0" tIns="0" rIns="0" bIns="0" rtlCol="0" anchor="t">
            <a:spAutoFit/>
          </a:bodyPr>
          <a:lstStyle/>
          <a:p>
            <a:pPr marL="0" lvl="0" indent="0" algn="just">
              <a:lnSpc>
                <a:spcPts val="4896"/>
              </a:lnSpc>
            </a:pPr>
            <a:r>
              <a:rPr lang="en-US" sz="3497" b="1" spc="-52">
                <a:solidFill>
                  <a:srgbClr val="000000"/>
                </a:solidFill>
                <a:latin typeface="Prompt Semi-Bold"/>
                <a:ea typeface="Prompt Semi-Bold"/>
                <a:cs typeface="Prompt Semi-Bold"/>
                <a:sym typeface="Prompt Semi-Bold"/>
              </a:rPr>
              <a:t>Kỹ thuật tối ưu hiệu quả mô hình</a:t>
            </a:r>
          </a:p>
        </p:txBody>
      </p:sp>
      <p:sp>
        <p:nvSpPr>
          <p:cNvPr id="7" name="TextBox 7"/>
          <p:cNvSpPr txBox="1"/>
          <p:nvPr/>
        </p:nvSpPr>
        <p:spPr>
          <a:xfrm>
            <a:off x="1988306" y="6554217"/>
            <a:ext cx="10467413" cy="1967280"/>
          </a:xfrm>
          <a:prstGeom prst="rect">
            <a:avLst/>
          </a:prstGeom>
        </p:spPr>
        <p:txBody>
          <a:bodyPr lIns="0" tIns="0" rIns="0" bIns="0" rtlCol="0" anchor="t">
            <a:spAutoFit/>
          </a:bodyPr>
          <a:lstStyle/>
          <a:p>
            <a:pPr marL="0" lvl="0" indent="0" algn="just">
              <a:lnSpc>
                <a:spcPts val="3917"/>
              </a:lnSpc>
            </a:pPr>
            <a:r>
              <a:rPr lang="en-US" sz="2798" spc="-41">
                <a:solidFill>
                  <a:srgbClr val="000000"/>
                </a:solidFill>
                <a:latin typeface="Prompt"/>
                <a:ea typeface="Prompt"/>
                <a:cs typeface="Prompt"/>
                <a:sym typeface="Prompt"/>
              </a:rPr>
              <a:t>Ba phương pháp chính:</a:t>
            </a:r>
          </a:p>
          <a:p>
            <a:pPr marL="0" lvl="0" indent="0" algn="just">
              <a:lnSpc>
                <a:spcPts val="3917"/>
              </a:lnSpc>
            </a:pPr>
            <a:r>
              <a:rPr lang="en-US" sz="2798" spc="-41">
                <a:solidFill>
                  <a:srgbClr val="000000"/>
                </a:solidFill>
                <a:latin typeface="Prompt"/>
                <a:ea typeface="Prompt"/>
                <a:cs typeface="Prompt"/>
                <a:sym typeface="Prompt"/>
              </a:rPr>
              <a:t>• Prompt Engineering – tối ưu câu lệnh đầu vào</a:t>
            </a:r>
          </a:p>
          <a:p>
            <a:pPr marL="0" lvl="0" indent="0" algn="just">
              <a:lnSpc>
                <a:spcPts val="3917"/>
              </a:lnSpc>
            </a:pPr>
            <a:r>
              <a:rPr lang="en-US" sz="2798" spc="-41">
                <a:solidFill>
                  <a:srgbClr val="000000"/>
                </a:solidFill>
                <a:latin typeface="Prompt"/>
                <a:ea typeface="Prompt"/>
                <a:cs typeface="Prompt"/>
                <a:sym typeface="Prompt"/>
              </a:rPr>
              <a:t>• Fine-tuning – huấn luyện lại mô hình</a:t>
            </a:r>
          </a:p>
          <a:p>
            <a:pPr marL="0" lvl="0" indent="0" algn="just">
              <a:lnSpc>
                <a:spcPts val="3917"/>
              </a:lnSpc>
            </a:pPr>
            <a:r>
              <a:rPr lang="en-US" sz="2798" spc="-41">
                <a:solidFill>
                  <a:srgbClr val="000000"/>
                </a:solidFill>
                <a:latin typeface="Prompt"/>
                <a:ea typeface="Prompt"/>
                <a:cs typeface="Prompt"/>
                <a:sym typeface="Prompt"/>
              </a:rPr>
              <a:t>• RAG – kết hợp truy xuất dữ liệu ngoài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42975"/>
            <a:ext cx="12276746" cy="877570"/>
          </a:xfrm>
          <a:prstGeom prst="rect">
            <a:avLst/>
          </a:prstGeom>
        </p:spPr>
        <p:txBody>
          <a:bodyPr lIns="0" tIns="0" rIns="0" bIns="0" rtlCol="0" anchor="t">
            <a:spAutoFit/>
          </a:bodyPr>
          <a:lstStyle/>
          <a:p>
            <a:pPr marL="0" lvl="0" indent="0" algn="ctr">
              <a:lnSpc>
                <a:spcPts val="7279"/>
              </a:lnSpc>
            </a:pPr>
            <a:r>
              <a:rPr lang="en-US" sz="5199">
                <a:solidFill>
                  <a:srgbClr val="000000"/>
                </a:solidFill>
                <a:latin typeface="Anton"/>
                <a:ea typeface="Anton"/>
                <a:cs typeface="Anton"/>
                <a:sym typeface="Anton"/>
              </a:rPr>
              <a:t>Minh họa mô hình thống kê</a:t>
            </a:r>
          </a:p>
        </p:txBody>
      </p:sp>
      <p:sp>
        <p:nvSpPr>
          <p:cNvPr id="3" name="TextBox 3"/>
          <p:cNvSpPr txBox="1"/>
          <p:nvPr/>
        </p:nvSpPr>
        <p:spPr>
          <a:xfrm>
            <a:off x="1988306" y="2055243"/>
            <a:ext cx="14311387" cy="596900"/>
          </a:xfrm>
          <a:prstGeom prst="rect">
            <a:avLst/>
          </a:prstGeom>
        </p:spPr>
        <p:txBody>
          <a:bodyPr lIns="0" tIns="0" rIns="0" bIns="0" rtlCol="0" anchor="t">
            <a:spAutoFit/>
          </a:bodyPr>
          <a:lstStyle/>
          <a:p>
            <a:pPr marL="0" lvl="0" indent="0" algn="just">
              <a:lnSpc>
                <a:spcPts val="4900"/>
              </a:lnSpc>
            </a:pPr>
            <a:r>
              <a:rPr lang="en-US" sz="3500" b="1" spc="-52">
                <a:solidFill>
                  <a:srgbClr val="000000"/>
                </a:solidFill>
                <a:latin typeface="Prompt Semi-Bold"/>
                <a:ea typeface="Prompt Semi-Bold"/>
                <a:cs typeface="Prompt Semi-Bold"/>
                <a:sym typeface="Prompt Semi-Bold"/>
              </a:rPr>
              <a:t>Phân tích tần suất ký tự</a:t>
            </a:r>
          </a:p>
        </p:txBody>
      </p:sp>
      <p:sp>
        <p:nvSpPr>
          <p:cNvPr id="4" name="TextBox 4"/>
          <p:cNvSpPr txBox="1"/>
          <p:nvPr/>
        </p:nvSpPr>
        <p:spPr>
          <a:xfrm>
            <a:off x="1965818" y="2899792"/>
            <a:ext cx="14333876"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Phân tích tần suất ký tự → sinh văn bản ngẫu nhiên. Cải tiến bằng xác suất có điều kiện → văn bản hợp lý hơn. Tăng kích thước ngữ cảnh (N-gram) → mô phỏng ngôn ngữ tự nhiên tốt hơn.</a:t>
            </a:r>
          </a:p>
        </p:txBody>
      </p:sp>
      <p:sp>
        <p:nvSpPr>
          <p:cNvPr id="5" name="TextBox 5"/>
          <p:cNvSpPr txBox="1"/>
          <p:nvPr/>
        </p:nvSpPr>
        <p:spPr>
          <a:xfrm>
            <a:off x="1988306" y="5785867"/>
            <a:ext cx="14311387" cy="596900"/>
          </a:xfrm>
          <a:prstGeom prst="rect">
            <a:avLst/>
          </a:prstGeom>
        </p:spPr>
        <p:txBody>
          <a:bodyPr lIns="0" tIns="0" rIns="0" bIns="0" rtlCol="0" anchor="t">
            <a:spAutoFit/>
          </a:bodyPr>
          <a:lstStyle/>
          <a:p>
            <a:pPr marL="0" lvl="0" indent="0" algn="just">
              <a:lnSpc>
                <a:spcPts val="4900"/>
              </a:lnSpc>
            </a:pPr>
            <a:r>
              <a:rPr lang="en-US" sz="3500" b="1" spc="-52">
                <a:solidFill>
                  <a:srgbClr val="000000"/>
                </a:solidFill>
                <a:latin typeface="Prompt Semi-Bold"/>
                <a:ea typeface="Prompt Semi-Bold"/>
                <a:cs typeface="Prompt Semi-Bold"/>
                <a:sym typeface="Prompt Semi-Bold"/>
              </a:rPr>
              <a:t>Nguyên lý hoạt động</a:t>
            </a:r>
          </a:p>
        </p:txBody>
      </p:sp>
      <p:sp>
        <p:nvSpPr>
          <p:cNvPr id="6" name="TextBox 6"/>
          <p:cNvSpPr txBox="1"/>
          <p:nvPr/>
        </p:nvSpPr>
        <p:spPr>
          <a:xfrm>
            <a:off x="1965818" y="6610350"/>
            <a:ext cx="14333876"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Mô hình thống kê dự đoán ký tự/từ tiếp theo dựa trên xác suất xuất hiện. N-gram với N càng lớn → ngữ cảnh càng rộng → kết quả sinh văn bản càng tự nhiên và mạch lạc hơn.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23925"/>
            <a:ext cx="12276746" cy="896620"/>
          </a:xfrm>
          <a:prstGeom prst="rect">
            <a:avLst/>
          </a:prstGeom>
        </p:spPr>
        <p:txBody>
          <a:bodyPr lIns="0" tIns="0" rIns="0" bIns="0" rtlCol="0" anchor="t">
            <a:spAutoFit/>
          </a:bodyPr>
          <a:lstStyle/>
          <a:p>
            <a:pPr marL="0" lvl="0" indent="0" algn="ctr">
              <a:lnSpc>
                <a:spcPts val="7279"/>
              </a:lnSpc>
            </a:pPr>
            <a:r>
              <a:rPr lang="en-US" sz="5199" b="1" spc="-77">
                <a:solidFill>
                  <a:srgbClr val="000000"/>
                </a:solidFill>
                <a:latin typeface="Prompt Semi-Bold"/>
                <a:ea typeface="Prompt Semi-Bold"/>
                <a:cs typeface="Prompt Semi-Bold"/>
                <a:sym typeface="Prompt Semi-Bold"/>
              </a:rPr>
              <a:t>Deep Learning &amp; Transformer</a:t>
            </a:r>
          </a:p>
        </p:txBody>
      </p:sp>
      <p:sp>
        <p:nvSpPr>
          <p:cNvPr id="3" name="TextBox 3"/>
          <p:cNvSpPr txBox="1"/>
          <p:nvPr/>
        </p:nvSpPr>
        <p:spPr>
          <a:xfrm>
            <a:off x="1988306" y="2064768"/>
            <a:ext cx="14311387" cy="19672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Transformer cho phép mô hình hiểu toàn bộ ngữ cảnh cùng lúc, thay vì xử lý tuần tự như các mô hình trước đó. Cơ chế Self-Attention là trái tim của kiến trúc này, giúp mô hình xác định mối quan hệ giữa các từ trong câu, hiểu ngữ nghĩa sâu và sinh văn bản mạch lạc, logic.</a:t>
            </a:r>
          </a:p>
        </p:txBody>
      </p:sp>
      <p:sp>
        <p:nvSpPr>
          <p:cNvPr id="4" name="TextBox 4"/>
          <p:cNvSpPr txBox="1"/>
          <p:nvPr/>
        </p:nvSpPr>
        <p:spPr>
          <a:xfrm>
            <a:off x="1965818" y="4937263"/>
            <a:ext cx="14311387" cy="19672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Transformer là nền tảng của các công cụ AI hiện đại như ChatGPT và GitHub Copilot. Nhờ khả năng xử lý song song và hiểu ngữ cảnh toàn diện, Transformer đã cách mạng hóa lĩnh vực xử lý ngôn ngữ tự nhiên và hỗ trợ lập trình viên sinh code, giải thích mã nguồn một cách hiệu quả.</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3157986" y="2837011"/>
            <a:ext cx="4116357" cy="4420249"/>
          </a:xfrm>
          <a:custGeom>
            <a:avLst/>
            <a:gdLst/>
            <a:ahLst/>
            <a:cxnLst/>
            <a:rect l="l" t="t" r="r" b="b"/>
            <a:pathLst>
              <a:path w="4116357" h="4420249">
                <a:moveTo>
                  <a:pt x="0" y="0"/>
                </a:moveTo>
                <a:lnTo>
                  <a:pt x="4116357" y="0"/>
                </a:lnTo>
                <a:lnTo>
                  <a:pt x="4116357" y="4420249"/>
                </a:lnTo>
                <a:lnTo>
                  <a:pt x="0" y="4420249"/>
                </a:lnTo>
                <a:lnTo>
                  <a:pt x="0" y="0"/>
                </a:lnTo>
                <a:close/>
              </a:path>
            </a:pathLst>
          </a:custGeom>
          <a:blipFill>
            <a:blip r:embed="rId2"/>
            <a:stretch>
              <a:fillRect/>
            </a:stretch>
          </a:blipFill>
        </p:spPr>
        <p:txBody>
          <a:bodyPr/>
          <a:lstStyle/>
          <a:p>
            <a:endParaRPr lang="vi-VN"/>
          </a:p>
        </p:txBody>
      </p:sp>
      <p:sp>
        <p:nvSpPr>
          <p:cNvPr id="3" name="TextBox 3"/>
          <p:cNvSpPr txBox="1"/>
          <p:nvPr/>
        </p:nvSpPr>
        <p:spPr>
          <a:xfrm>
            <a:off x="3005627" y="942975"/>
            <a:ext cx="12276746" cy="876907"/>
          </a:xfrm>
          <a:prstGeom prst="rect">
            <a:avLst/>
          </a:prstGeom>
        </p:spPr>
        <p:txBody>
          <a:bodyPr lIns="0" tIns="0" rIns="0" bIns="0" rtlCol="0" anchor="t">
            <a:spAutoFit/>
          </a:bodyPr>
          <a:lstStyle/>
          <a:p>
            <a:pPr marL="0" lvl="0" indent="0" algn="ctr">
              <a:lnSpc>
                <a:spcPts val="7274"/>
              </a:lnSpc>
            </a:pPr>
            <a:r>
              <a:rPr lang="en-US" sz="5196" dirty="0" err="1">
                <a:solidFill>
                  <a:srgbClr val="000000"/>
                </a:solidFill>
                <a:latin typeface="Anton"/>
                <a:ea typeface="Anton"/>
                <a:cs typeface="Anton"/>
                <a:sym typeface="Anton"/>
              </a:rPr>
              <a:t>Chương</a:t>
            </a:r>
            <a:r>
              <a:rPr lang="en-US" sz="5196" dirty="0">
                <a:solidFill>
                  <a:srgbClr val="000000"/>
                </a:solidFill>
                <a:latin typeface="Anton"/>
                <a:ea typeface="Anton"/>
                <a:cs typeface="Anton"/>
                <a:sym typeface="Anton"/>
              </a:rPr>
              <a:t> 7: </a:t>
            </a:r>
            <a:r>
              <a:rPr lang="en-US" sz="5196" dirty="0" err="1">
                <a:solidFill>
                  <a:srgbClr val="000000"/>
                </a:solidFill>
                <a:latin typeface="Anton"/>
                <a:ea typeface="Anton"/>
                <a:cs typeface="Anton"/>
                <a:sym typeface="Anton"/>
              </a:rPr>
              <a:t>Đọc</a:t>
            </a:r>
            <a:r>
              <a:rPr lang="en-US" sz="5196" dirty="0">
                <a:solidFill>
                  <a:srgbClr val="000000"/>
                </a:solidFill>
                <a:latin typeface="Anton"/>
                <a:ea typeface="Anton"/>
                <a:cs typeface="Anton"/>
                <a:sym typeface="Anton"/>
              </a:rPr>
              <a:t> </a:t>
            </a:r>
            <a:r>
              <a:rPr lang="en-US" sz="5196" dirty="0" err="1">
                <a:solidFill>
                  <a:srgbClr val="000000"/>
                </a:solidFill>
                <a:latin typeface="Anton"/>
                <a:ea typeface="Anton"/>
                <a:cs typeface="Anton"/>
                <a:sym typeface="Anton"/>
              </a:rPr>
              <a:t>hiểu</a:t>
            </a:r>
            <a:r>
              <a:rPr lang="en-US" sz="5196" dirty="0">
                <a:solidFill>
                  <a:srgbClr val="000000"/>
                </a:solidFill>
                <a:latin typeface="Anton"/>
                <a:ea typeface="Anton"/>
                <a:cs typeface="Anton"/>
                <a:sym typeface="Anton"/>
              </a:rPr>
              <a:t> </a:t>
            </a:r>
            <a:r>
              <a:rPr lang="en-US" sz="5196" dirty="0" err="1">
                <a:solidFill>
                  <a:srgbClr val="000000"/>
                </a:solidFill>
                <a:latin typeface="Anton"/>
                <a:ea typeface="Anton"/>
                <a:cs typeface="Anton"/>
                <a:sym typeface="Anton"/>
              </a:rPr>
              <a:t>mã</a:t>
            </a:r>
            <a:r>
              <a:rPr lang="en-US" sz="5196" dirty="0">
                <a:solidFill>
                  <a:srgbClr val="000000"/>
                </a:solidFill>
                <a:latin typeface="Anton"/>
                <a:ea typeface="Anton"/>
                <a:cs typeface="Anton"/>
                <a:sym typeface="Anton"/>
              </a:rPr>
              <a:t> </a:t>
            </a:r>
            <a:r>
              <a:rPr lang="en-US" sz="5196" dirty="0" err="1">
                <a:solidFill>
                  <a:srgbClr val="000000"/>
                </a:solidFill>
                <a:latin typeface="Anton"/>
                <a:ea typeface="Anton"/>
                <a:cs typeface="Anton"/>
                <a:sym typeface="Anton"/>
              </a:rPr>
              <a:t>nguồn</a:t>
            </a:r>
            <a:r>
              <a:rPr lang="en-US" sz="5196" dirty="0">
                <a:solidFill>
                  <a:srgbClr val="000000"/>
                </a:solidFill>
                <a:latin typeface="Anton"/>
                <a:ea typeface="Anton"/>
                <a:cs typeface="Anton"/>
                <a:sym typeface="Anton"/>
              </a:rPr>
              <a:t> </a:t>
            </a:r>
            <a:r>
              <a:rPr lang="en-US" sz="5196" dirty="0" err="1">
                <a:solidFill>
                  <a:srgbClr val="000000"/>
                </a:solidFill>
                <a:latin typeface="Anton"/>
                <a:ea typeface="Anton"/>
                <a:cs typeface="Anton"/>
                <a:sym typeface="Anton"/>
              </a:rPr>
              <a:t>với</a:t>
            </a:r>
            <a:r>
              <a:rPr lang="en-US" sz="5196" dirty="0">
                <a:solidFill>
                  <a:srgbClr val="000000"/>
                </a:solidFill>
                <a:latin typeface="Anton"/>
                <a:ea typeface="Anton"/>
                <a:cs typeface="Anton"/>
                <a:sym typeface="Anton"/>
              </a:rPr>
              <a:t> GenAI</a:t>
            </a:r>
          </a:p>
        </p:txBody>
      </p:sp>
      <p:sp>
        <p:nvSpPr>
          <p:cNvPr id="4" name="TextBox 4"/>
          <p:cNvSpPr txBox="1"/>
          <p:nvPr/>
        </p:nvSpPr>
        <p:spPr>
          <a:xfrm>
            <a:off x="1988306" y="2064768"/>
            <a:ext cx="14311387" cy="587437"/>
          </a:xfrm>
          <a:prstGeom prst="rect">
            <a:avLst/>
          </a:prstGeom>
        </p:spPr>
        <p:txBody>
          <a:bodyPr lIns="0" tIns="0" rIns="0" bIns="0" rtlCol="0" anchor="t">
            <a:spAutoFit/>
          </a:bodyPr>
          <a:lstStyle/>
          <a:p>
            <a:pPr marL="0" lvl="0" indent="0" algn="just">
              <a:lnSpc>
                <a:spcPts val="4896"/>
              </a:lnSpc>
            </a:pPr>
            <a:r>
              <a:rPr lang="en-US" sz="3497" b="1" spc="-52">
                <a:solidFill>
                  <a:srgbClr val="000000"/>
                </a:solidFill>
                <a:latin typeface="Prompt Semi-Bold"/>
                <a:ea typeface="Prompt Semi-Bold"/>
                <a:cs typeface="Prompt Semi-Bold"/>
                <a:sym typeface="Prompt Semi-Bold"/>
              </a:rPr>
              <a:t>Vấn đề: Dự án lớn khó đọc hiểu code</a:t>
            </a:r>
          </a:p>
        </p:txBody>
      </p:sp>
      <p:sp>
        <p:nvSpPr>
          <p:cNvPr id="5" name="TextBox 5"/>
          <p:cNvSpPr txBox="1"/>
          <p:nvPr/>
        </p:nvSpPr>
        <p:spPr>
          <a:xfrm>
            <a:off x="1965818" y="2824354"/>
            <a:ext cx="10467413"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Khi dự án phát triển lớn, việc đọc và hiểu code trở nên khó khăn. GenAI cung cấp giải pháp hiệu quả: giải thích code chi tiết, phát hiện lỗi tiềm ẩn, và sinh tài liệu tự động.</a:t>
            </a:r>
          </a:p>
        </p:txBody>
      </p:sp>
      <p:sp>
        <p:nvSpPr>
          <p:cNvPr id="6" name="TextBox 6"/>
          <p:cNvSpPr txBox="1"/>
          <p:nvPr/>
        </p:nvSpPr>
        <p:spPr>
          <a:xfrm>
            <a:off x="1988306" y="5795392"/>
            <a:ext cx="14311387" cy="587437"/>
          </a:xfrm>
          <a:prstGeom prst="rect">
            <a:avLst/>
          </a:prstGeom>
        </p:spPr>
        <p:txBody>
          <a:bodyPr lIns="0" tIns="0" rIns="0" bIns="0" rtlCol="0" anchor="t">
            <a:spAutoFit/>
          </a:bodyPr>
          <a:lstStyle/>
          <a:p>
            <a:pPr marL="0" lvl="0" indent="0" algn="just">
              <a:lnSpc>
                <a:spcPts val="4896"/>
              </a:lnSpc>
            </a:pPr>
            <a:r>
              <a:rPr lang="en-US" sz="3497" b="1" spc="-52">
                <a:solidFill>
                  <a:srgbClr val="000000"/>
                </a:solidFill>
                <a:latin typeface="Prompt Semi-Bold"/>
                <a:ea typeface="Prompt Semi-Bold"/>
                <a:cs typeface="Prompt Semi-Bold"/>
                <a:sym typeface="Prompt Semi-Bold"/>
              </a:rPr>
              <a:t>Giải pháp với GenAI</a:t>
            </a:r>
          </a:p>
        </p:txBody>
      </p:sp>
      <p:sp>
        <p:nvSpPr>
          <p:cNvPr id="7" name="TextBox 7"/>
          <p:cNvSpPr txBox="1"/>
          <p:nvPr/>
        </p:nvSpPr>
        <p:spPr>
          <a:xfrm>
            <a:off x="1988306" y="6554217"/>
            <a:ext cx="10467413"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Ví dụ thực tế: Sử dụng GenAI để phân tích API Flask tính Manhattan Distance. GenAI giúp hiểu cấu trúc code, giải thích logic thuật toán và sinh tài liệu API một cách tự động.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42975"/>
            <a:ext cx="12276746" cy="877570"/>
          </a:xfrm>
          <a:prstGeom prst="rect">
            <a:avLst/>
          </a:prstGeom>
        </p:spPr>
        <p:txBody>
          <a:bodyPr lIns="0" tIns="0" rIns="0" bIns="0" rtlCol="0" anchor="t">
            <a:spAutoFit/>
          </a:bodyPr>
          <a:lstStyle/>
          <a:p>
            <a:pPr marL="0" lvl="0" indent="0" algn="ctr">
              <a:lnSpc>
                <a:spcPts val="7279"/>
              </a:lnSpc>
            </a:pPr>
            <a:r>
              <a:rPr lang="en-US" sz="5199">
                <a:solidFill>
                  <a:srgbClr val="000000"/>
                </a:solidFill>
                <a:latin typeface="Anton"/>
                <a:ea typeface="Anton"/>
                <a:cs typeface="Anton"/>
                <a:sym typeface="Anton"/>
              </a:rPr>
              <a:t>Cấu trúc dự án minh họa</a:t>
            </a:r>
          </a:p>
        </p:txBody>
      </p:sp>
      <p:sp>
        <p:nvSpPr>
          <p:cNvPr id="3" name="TextBox 3"/>
          <p:cNvSpPr txBox="1"/>
          <p:nvPr/>
        </p:nvSpPr>
        <p:spPr>
          <a:xfrm>
            <a:off x="1988306" y="2055243"/>
            <a:ext cx="14311387" cy="596900"/>
          </a:xfrm>
          <a:prstGeom prst="rect">
            <a:avLst/>
          </a:prstGeom>
        </p:spPr>
        <p:txBody>
          <a:bodyPr lIns="0" tIns="0" rIns="0" bIns="0" rtlCol="0" anchor="t">
            <a:spAutoFit/>
          </a:bodyPr>
          <a:lstStyle/>
          <a:p>
            <a:pPr marL="0" lvl="0" indent="0" algn="just">
              <a:lnSpc>
                <a:spcPts val="4900"/>
              </a:lnSpc>
            </a:pPr>
            <a:r>
              <a:rPr lang="en-US" sz="3500" b="1" spc="-52">
                <a:solidFill>
                  <a:srgbClr val="000000"/>
                </a:solidFill>
                <a:latin typeface="Prompt Semi-Bold"/>
                <a:ea typeface="Prompt Semi-Bold"/>
                <a:cs typeface="Prompt Semi-Bold"/>
                <a:sym typeface="Prompt Semi-Bold"/>
              </a:rPr>
              <a:t>Thư mục chính</a:t>
            </a:r>
          </a:p>
        </p:txBody>
      </p:sp>
      <p:sp>
        <p:nvSpPr>
          <p:cNvPr id="4" name="TextBox 4"/>
          <p:cNvSpPr txBox="1"/>
          <p:nvPr/>
        </p:nvSpPr>
        <p:spPr>
          <a:xfrm>
            <a:off x="1965818" y="2899792"/>
            <a:ext cx="14333876"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 app.py – API Flask chính</a:t>
            </a:r>
          </a:p>
          <a:p>
            <a:pPr marL="0" lvl="0" indent="0" algn="just">
              <a:lnSpc>
                <a:spcPts val="3919"/>
              </a:lnSpc>
            </a:pPr>
            <a:r>
              <a:rPr lang="en-US" sz="2799" spc="-41">
                <a:solidFill>
                  <a:srgbClr val="000000"/>
                </a:solidFill>
                <a:latin typeface="Prompt"/>
                <a:ea typeface="Prompt"/>
                <a:cs typeface="Prompt"/>
                <a:sym typeface="Prompt"/>
              </a:rPr>
              <a:t>• src/manhattan.py – thuật toán tính toán khoảng cách</a:t>
            </a:r>
          </a:p>
          <a:p>
            <a:pPr marL="0" lvl="0" indent="0" algn="just">
              <a:lnSpc>
                <a:spcPts val="3919"/>
              </a:lnSpc>
            </a:pPr>
            <a:r>
              <a:rPr lang="en-US" sz="2799" spc="-41">
                <a:solidFill>
                  <a:srgbClr val="000000"/>
                </a:solidFill>
                <a:latin typeface="Prompt"/>
                <a:ea typeface="Prompt"/>
                <a:cs typeface="Prompt"/>
                <a:sym typeface="Prompt"/>
              </a:rPr>
              <a:t>• prompts/ – chứa các prompt dùng cho GenAI</a:t>
            </a:r>
          </a:p>
        </p:txBody>
      </p:sp>
      <p:sp>
        <p:nvSpPr>
          <p:cNvPr id="5" name="TextBox 5"/>
          <p:cNvSpPr txBox="1"/>
          <p:nvPr/>
        </p:nvSpPr>
        <p:spPr>
          <a:xfrm>
            <a:off x="1988306" y="5785867"/>
            <a:ext cx="14311387" cy="596900"/>
          </a:xfrm>
          <a:prstGeom prst="rect">
            <a:avLst/>
          </a:prstGeom>
        </p:spPr>
        <p:txBody>
          <a:bodyPr lIns="0" tIns="0" rIns="0" bIns="0" rtlCol="0" anchor="t">
            <a:spAutoFit/>
          </a:bodyPr>
          <a:lstStyle/>
          <a:p>
            <a:pPr marL="0" lvl="0" indent="0" algn="just">
              <a:lnSpc>
                <a:spcPts val="4900"/>
              </a:lnSpc>
            </a:pPr>
            <a:r>
              <a:rPr lang="en-US" sz="3500" b="1" spc="-52">
                <a:solidFill>
                  <a:srgbClr val="000000"/>
                </a:solidFill>
                <a:latin typeface="Prompt Semi-Bold"/>
                <a:ea typeface="Prompt Semi-Bold"/>
                <a:cs typeface="Prompt Semi-Bold"/>
                <a:sym typeface="Prompt Semi-Bold"/>
              </a:rPr>
              <a:t>Kết quả</a:t>
            </a:r>
          </a:p>
        </p:txBody>
      </p:sp>
      <p:sp>
        <p:nvSpPr>
          <p:cNvPr id="6" name="TextBox 6"/>
          <p:cNvSpPr txBox="1"/>
          <p:nvPr/>
        </p:nvSpPr>
        <p:spPr>
          <a:xfrm>
            <a:off x="1965818" y="6610350"/>
            <a:ext cx="14333876"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 API hoạt động chính xác, trả về JSON kết quả</a:t>
            </a:r>
          </a:p>
          <a:p>
            <a:pPr marL="0" lvl="0" indent="0" algn="just">
              <a:lnSpc>
                <a:spcPts val="3919"/>
              </a:lnSpc>
            </a:pPr>
            <a:r>
              <a:rPr lang="en-US" sz="2799" spc="-41">
                <a:solidFill>
                  <a:srgbClr val="000000"/>
                </a:solidFill>
                <a:latin typeface="Prompt"/>
                <a:ea typeface="Prompt"/>
                <a:cs typeface="Prompt"/>
                <a:sym typeface="Prompt"/>
              </a:rPr>
              <a:t>• Cấu trúc rõ ràng, dễ bảo trì và mở rộng</a:t>
            </a:r>
          </a:p>
          <a:p>
            <a:pPr marL="0" lvl="0" indent="0" algn="just">
              <a:lnSpc>
                <a:spcPts val="3919"/>
              </a:lnSpc>
            </a:pPr>
            <a:r>
              <a:rPr lang="en-US" sz="2799" spc="-41">
                <a:solidFill>
                  <a:srgbClr val="000000"/>
                </a:solidFill>
                <a:latin typeface="Prompt"/>
                <a:ea typeface="Prompt"/>
                <a:cs typeface="Prompt"/>
                <a:sym typeface="Prompt"/>
              </a:rPr>
              <a:t>• Tích hợp GenAI hỗ trợ giải thích và sinh tài liệu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13437421" y="3543041"/>
            <a:ext cx="3663718" cy="3672901"/>
          </a:xfrm>
          <a:custGeom>
            <a:avLst/>
            <a:gdLst/>
            <a:ahLst/>
            <a:cxnLst/>
            <a:rect l="l" t="t" r="r" b="b"/>
            <a:pathLst>
              <a:path w="3663718" h="3672901">
                <a:moveTo>
                  <a:pt x="0" y="0"/>
                </a:moveTo>
                <a:lnTo>
                  <a:pt x="3663719" y="0"/>
                </a:lnTo>
                <a:lnTo>
                  <a:pt x="3663719" y="3672901"/>
                </a:lnTo>
                <a:lnTo>
                  <a:pt x="0" y="3672901"/>
                </a:lnTo>
                <a:lnTo>
                  <a:pt x="0" y="0"/>
                </a:lnTo>
                <a:close/>
              </a:path>
            </a:pathLst>
          </a:custGeom>
          <a:blipFill>
            <a:blip r:embed="rId2"/>
            <a:stretch>
              <a:fillRect/>
            </a:stretch>
          </a:blipFill>
        </p:spPr>
        <p:txBody>
          <a:bodyPr/>
          <a:lstStyle/>
          <a:p>
            <a:endParaRPr lang="vi-VN"/>
          </a:p>
        </p:txBody>
      </p:sp>
      <p:sp>
        <p:nvSpPr>
          <p:cNvPr id="3" name="TextBox 3"/>
          <p:cNvSpPr txBox="1"/>
          <p:nvPr/>
        </p:nvSpPr>
        <p:spPr>
          <a:xfrm>
            <a:off x="3005627" y="942975"/>
            <a:ext cx="12276746" cy="876907"/>
          </a:xfrm>
          <a:prstGeom prst="rect">
            <a:avLst/>
          </a:prstGeom>
        </p:spPr>
        <p:txBody>
          <a:bodyPr lIns="0" tIns="0" rIns="0" bIns="0" rtlCol="0" anchor="t">
            <a:spAutoFit/>
          </a:bodyPr>
          <a:lstStyle/>
          <a:p>
            <a:pPr marL="0" lvl="0" indent="0" algn="ctr">
              <a:lnSpc>
                <a:spcPts val="7274"/>
              </a:lnSpc>
            </a:pPr>
            <a:r>
              <a:rPr lang="en-US" sz="5196" dirty="0" err="1">
                <a:solidFill>
                  <a:srgbClr val="000000"/>
                </a:solidFill>
                <a:latin typeface="Anton"/>
                <a:ea typeface="Anton"/>
                <a:cs typeface="Anton"/>
                <a:sym typeface="Anton"/>
              </a:rPr>
              <a:t>Chương</a:t>
            </a:r>
            <a:r>
              <a:rPr lang="en-US" sz="5196" dirty="0">
                <a:solidFill>
                  <a:srgbClr val="000000"/>
                </a:solidFill>
                <a:latin typeface="Anton"/>
                <a:ea typeface="Anton"/>
                <a:cs typeface="Anton"/>
                <a:sym typeface="Anton"/>
              </a:rPr>
              <a:t> 8: </a:t>
            </a:r>
            <a:r>
              <a:rPr lang="en-US" sz="5196" dirty="0" err="1">
                <a:solidFill>
                  <a:srgbClr val="000000"/>
                </a:solidFill>
                <a:latin typeface="Anton"/>
                <a:ea typeface="Anton"/>
                <a:cs typeface="Anton"/>
                <a:sym typeface="Anton"/>
              </a:rPr>
              <a:t>Kỹ</a:t>
            </a:r>
            <a:r>
              <a:rPr lang="en-US" sz="5196" dirty="0">
                <a:solidFill>
                  <a:srgbClr val="000000"/>
                </a:solidFill>
                <a:latin typeface="Anton"/>
                <a:ea typeface="Anton"/>
                <a:cs typeface="Anton"/>
                <a:sym typeface="Anton"/>
              </a:rPr>
              <a:t> </a:t>
            </a:r>
            <a:r>
              <a:rPr lang="en-US" sz="5196" dirty="0" err="1">
                <a:solidFill>
                  <a:srgbClr val="000000"/>
                </a:solidFill>
                <a:latin typeface="Anton"/>
                <a:ea typeface="Anton"/>
                <a:cs typeface="Anton"/>
                <a:sym typeface="Anton"/>
              </a:rPr>
              <a:t>thuật</a:t>
            </a:r>
            <a:r>
              <a:rPr lang="en-US" sz="5196" dirty="0">
                <a:solidFill>
                  <a:srgbClr val="000000"/>
                </a:solidFill>
                <a:latin typeface="Anton"/>
                <a:ea typeface="Anton"/>
                <a:cs typeface="Anton"/>
                <a:sym typeface="Anton"/>
              </a:rPr>
              <a:t> Prompt Engineering</a:t>
            </a:r>
          </a:p>
        </p:txBody>
      </p:sp>
      <p:sp>
        <p:nvSpPr>
          <p:cNvPr id="4" name="TextBox 4"/>
          <p:cNvSpPr txBox="1"/>
          <p:nvPr/>
        </p:nvSpPr>
        <p:spPr>
          <a:xfrm>
            <a:off x="1988306" y="2064768"/>
            <a:ext cx="14311387" cy="587437"/>
          </a:xfrm>
          <a:prstGeom prst="rect">
            <a:avLst/>
          </a:prstGeom>
        </p:spPr>
        <p:txBody>
          <a:bodyPr lIns="0" tIns="0" rIns="0" bIns="0" rtlCol="0" anchor="t">
            <a:spAutoFit/>
          </a:bodyPr>
          <a:lstStyle/>
          <a:p>
            <a:pPr marL="0" lvl="0" indent="0" algn="just">
              <a:lnSpc>
                <a:spcPts val="4896"/>
              </a:lnSpc>
            </a:pPr>
            <a:r>
              <a:rPr lang="en-US" sz="3497" b="1" spc="-52">
                <a:solidFill>
                  <a:srgbClr val="000000"/>
                </a:solidFill>
                <a:latin typeface="Prompt Semi-Bold"/>
                <a:ea typeface="Prompt Semi-Bold"/>
                <a:cs typeface="Prompt Semi-Bold"/>
                <a:sym typeface="Prompt Semi-Bold"/>
              </a:rPr>
              <a:t>Mục tiêu: Tối ưu prompt để mô hình trả lời chính xác hơn</a:t>
            </a:r>
          </a:p>
        </p:txBody>
      </p:sp>
      <p:sp>
        <p:nvSpPr>
          <p:cNvPr id="5" name="TextBox 5"/>
          <p:cNvSpPr txBox="1"/>
          <p:nvPr/>
        </p:nvSpPr>
        <p:spPr>
          <a:xfrm>
            <a:off x="1965818" y="2824354"/>
            <a:ext cx="10467413" cy="1967280"/>
          </a:xfrm>
          <a:prstGeom prst="rect">
            <a:avLst/>
          </a:prstGeom>
        </p:spPr>
        <p:txBody>
          <a:bodyPr lIns="0" tIns="0" rIns="0" bIns="0" rtlCol="0" anchor="t">
            <a:spAutoFit/>
          </a:bodyPr>
          <a:lstStyle/>
          <a:p>
            <a:pPr marL="0" lvl="0" indent="0" algn="just">
              <a:lnSpc>
                <a:spcPts val="3917"/>
              </a:lnSpc>
            </a:pPr>
            <a:r>
              <a:rPr lang="en-US" sz="2798" spc="-41">
                <a:solidFill>
                  <a:srgbClr val="000000"/>
                </a:solidFill>
                <a:latin typeface="Prompt"/>
                <a:ea typeface="Prompt"/>
                <a:cs typeface="Prompt"/>
                <a:sym typeface="Prompt"/>
              </a:rPr>
              <a:t>Nguyên tắc thiết kế prompt hiệu quả:</a:t>
            </a:r>
          </a:p>
          <a:p>
            <a:pPr marL="0" lvl="0" indent="0" algn="just">
              <a:lnSpc>
                <a:spcPts val="3917"/>
              </a:lnSpc>
            </a:pPr>
            <a:r>
              <a:rPr lang="en-US" sz="2798" spc="-41">
                <a:solidFill>
                  <a:srgbClr val="000000"/>
                </a:solidFill>
                <a:latin typeface="Prompt"/>
                <a:ea typeface="Prompt"/>
                <a:cs typeface="Prompt"/>
                <a:sym typeface="Prompt"/>
              </a:rPr>
              <a:t>• Cấu trúc rõ ràng, logic</a:t>
            </a:r>
          </a:p>
          <a:p>
            <a:pPr marL="0" lvl="0" indent="0" algn="just">
              <a:lnSpc>
                <a:spcPts val="3917"/>
              </a:lnSpc>
            </a:pPr>
            <a:r>
              <a:rPr lang="en-US" sz="2798" spc="-41">
                <a:solidFill>
                  <a:srgbClr val="000000"/>
                </a:solidFill>
                <a:latin typeface="Prompt"/>
                <a:ea typeface="Prompt"/>
                <a:cs typeface="Prompt"/>
                <a:sym typeface="Prompt"/>
              </a:rPr>
              <a:t>• Cung cấp đầy đủ ngữ cảnh</a:t>
            </a:r>
          </a:p>
          <a:p>
            <a:pPr marL="0" lvl="0" indent="0" algn="just">
              <a:lnSpc>
                <a:spcPts val="3917"/>
              </a:lnSpc>
            </a:pPr>
            <a:r>
              <a:rPr lang="en-US" sz="2798" spc="-41">
                <a:solidFill>
                  <a:srgbClr val="000000"/>
                </a:solidFill>
                <a:latin typeface="Prompt"/>
                <a:ea typeface="Prompt"/>
                <a:cs typeface="Prompt"/>
                <a:sym typeface="Prompt"/>
              </a:rPr>
              <a:t>• Xác định nhiệm vụ cụ thể, chi tiết</a:t>
            </a:r>
          </a:p>
        </p:txBody>
      </p:sp>
      <p:sp>
        <p:nvSpPr>
          <p:cNvPr id="6" name="TextBox 6"/>
          <p:cNvSpPr txBox="1"/>
          <p:nvPr/>
        </p:nvSpPr>
        <p:spPr>
          <a:xfrm>
            <a:off x="1988306" y="5795392"/>
            <a:ext cx="14311387" cy="587437"/>
          </a:xfrm>
          <a:prstGeom prst="rect">
            <a:avLst/>
          </a:prstGeom>
        </p:spPr>
        <p:txBody>
          <a:bodyPr lIns="0" tIns="0" rIns="0" bIns="0" rtlCol="0" anchor="t">
            <a:spAutoFit/>
          </a:bodyPr>
          <a:lstStyle/>
          <a:p>
            <a:pPr marL="0" lvl="0" indent="0" algn="just">
              <a:lnSpc>
                <a:spcPts val="4896"/>
              </a:lnSpc>
            </a:pPr>
            <a:r>
              <a:rPr lang="en-US" sz="3497" b="1" spc="-52">
                <a:solidFill>
                  <a:srgbClr val="000000"/>
                </a:solidFill>
                <a:latin typeface="Prompt Semi-Bold"/>
                <a:ea typeface="Prompt Semi-Bold"/>
                <a:cs typeface="Prompt Semi-Bold"/>
                <a:sym typeface="Prompt Semi-Bold"/>
              </a:rPr>
              <a:t>Ứng dụng trong lập trình</a:t>
            </a:r>
          </a:p>
        </p:txBody>
      </p:sp>
      <p:sp>
        <p:nvSpPr>
          <p:cNvPr id="7" name="TextBox 7"/>
          <p:cNvSpPr txBox="1"/>
          <p:nvPr/>
        </p:nvSpPr>
        <p:spPr>
          <a:xfrm>
            <a:off x="1988306" y="6554217"/>
            <a:ext cx="10467413" cy="1967280"/>
          </a:xfrm>
          <a:prstGeom prst="rect">
            <a:avLst/>
          </a:prstGeom>
        </p:spPr>
        <p:txBody>
          <a:bodyPr lIns="0" tIns="0" rIns="0" bIns="0" rtlCol="0" anchor="t">
            <a:spAutoFit/>
          </a:bodyPr>
          <a:lstStyle/>
          <a:p>
            <a:pPr marL="0" lvl="0" indent="0" algn="just">
              <a:lnSpc>
                <a:spcPts val="3917"/>
              </a:lnSpc>
            </a:pPr>
            <a:r>
              <a:rPr lang="en-US" sz="2798" spc="-41">
                <a:solidFill>
                  <a:srgbClr val="000000"/>
                </a:solidFill>
                <a:latin typeface="Prompt"/>
                <a:ea typeface="Prompt"/>
                <a:cs typeface="Prompt"/>
                <a:sym typeface="Prompt"/>
              </a:rPr>
              <a:t>Prompt Engineering được áp dụng rộng rãi:</a:t>
            </a:r>
          </a:p>
          <a:p>
            <a:pPr marL="0" lvl="0" indent="0" algn="just">
              <a:lnSpc>
                <a:spcPts val="3917"/>
              </a:lnSpc>
            </a:pPr>
            <a:r>
              <a:rPr lang="en-US" sz="2798" spc="-41">
                <a:solidFill>
                  <a:srgbClr val="000000"/>
                </a:solidFill>
                <a:latin typeface="Prompt"/>
                <a:ea typeface="Prompt"/>
                <a:cs typeface="Prompt"/>
                <a:sym typeface="Prompt"/>
              </a:rPr>
              <a:t>• Sinh code tự động từ mô tả</a:t>
            </a:r>
          </a:p>
          <a:p>
            <a:pPr marL="0" lvl="0" indent="0" algn="just">
              <a:lnSpc>
                <a:spcPts val="3917"/>
              </a:lnSpc>
            </a:pPr>
            <a:r>
              <a:rPr lang="en-US" sz="2798" spc="-41">
                <a:solidFill>
                  <a:srgbClr val="000000"/>
                </a:solidFill>
                <a:latin typeface="Prompt"/>
                <a:ea typeface="Prompt"/>
                <a:cs typeface="Prompt"/>
                <a:sym typeface="Prompt"/>
              </a:rPr>
              <a:t>• Refactor và tối ưu mã nguồn</a:t>
            </a:r>
          </a:p>
          <a:p>
            <a:pPr marL="0" lvl="0" indent="0" algn="just">
              <a:lnSpc>
                <a:spcPts val="3917"/>
              </a:lnSpc>
            </a:pPr>
            <a:r>
              <a:rPr lang="en-US" sz="2798" spc="-41">
                <a:solidFill>
                  <a:srgbClr val="000000"/>
                </a:solidFill>
                <a:latin typeface="Prompt"/>
                <a:ea typeface="Prompt"/>
                <a:cs typeface="Prompt"/>
                <a:sym typeface="Prompt"/>
              </a:rPr>
              <a:t>• Phát hiện và sửa lỗi hiệu quả</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42975"/>
            <a:ext cx="12276746" cy="877570"/>
          </a:xfrm>
          <a:prstGeom prst="rect">
            <a:avLst/>
          </a:prstGeom>
        </p:spPr>
        <p:txBody>
          <a:bodyPr lIns="0" tIns="0" rIns="0" bIns="0" rtlCol="0" anchor="t">
            <a:spAutoFit/>
          </a:bodyPr>
          <a:lstStyle/>
          <a:p>
            <a:pPr marL="0" lvl="0" indent="0" algn="ctr">
              <a:lnSpc>
                <a:spcPts val="7279"/>
              </a:lnSpc>
            </a:pPr>
            <a:r>
              <a:rPr lang="en-US" sz="5199">
                <a:solidFill>
                  <a:srgbClr val="000000"/>
                </a:solidFill>
                <a:latin typeface="Anton"/>
                <a:ea typeface="Anton"/>
                <a:cs typeface="Anton"/>
                <a:sym typeface="Anton"/>
              </a:rPr>
              <a:t>Few-shot Learning</a:t>
            </a:r>
          </a:p>
        </p:txBody>
      </p:sp>
      <p:sp>
        <p:nvSpPr>
          <p:cNvPr id="3" name="TextBox 3"/>
          <p:cNvSpPr txBox="1"/>
          <p:nvPr/>
        </p:nvSpPr>
        <p:spPr>
          <a:xfrm>
            <a:off x="1988306" y="2055243"/>
            <a:ext cx="14311387" cy="596900"/>
          </a:xfrm>
          <a:prstGeom prst="rect">
            <a:avLst/>
          </a:prstGeom>
        </p:spPr>
        <p:txBody>
          <a:bodyPr lIns="0" tIns="0" rIns="0" bIns="0" rtlCol="0" anchor="t">
            <a:spAutoFit/>
          </a:bodyPr>
          <a:lstStyle/>
          <a:p>
            <a:pPr marL="0" lvl="0" indent="0" algn="just">
              <a:lnSpc>
                <a:spcPts val="4900"/>
              </a:lnSpc>
            </a:pPr>
            <a:r>
              <a:rPr lang="en-US" sz="3500" b="1" spc="-52">
                <a:solidFill>
                  <a:srgbClr val="000000"/>
                </a:solidFill>
                <a:latin typeface="Prompt Semi-Bold"/>
                <a:ea typeface="Prompt Semi-Bold"/>
                <a:cs typeface="Prompt Semi-Bold"/>
                <a:sym typeface="Prompt Semi-Bold"/>
              </a:rPr>
              <a:t>Khái niệm và lợi ích</a:t>
            </a:r>
          </a:p>
        </p:txBody>
      </p:sp>
      <p:sp>
        <p:nvSpPr>
          <p:cNvPr id="4" name="TextBox 4"/>
          <p:cNvSpPr txBox="1"/>
          <p:nvPr/>
        </p:nvSpPr>
        <p:spPr>
          <a:xfrm>
            <a:off x="1965818" y="2899792"/>
            <a:ext cx="14333876"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Cung cấp vài ví dụ mẫu trong prompt giúp mô hình hiểu rõ yêu cầu. Mô hình học được pattern từ các ví dụ và sinh output ổn định, nhất quán. Đây là kỹ thuật hiệu quả khi không cần fine-tuning toàn bộ mô hình.</a:t>
            </a:r>
          </a:p>
        </p:txBody>
      </p:sp>
      <p:sp>
        <p:nvSpPr>
          <p:cNvPr id="5" name="TextBox 5"/>
          <p:cNvSpPr txBox="1"/>
          <p:nvPr/>
        </p:nvSpPr>
        <p:spPr>
          <a:xfrm>
            <a:off x="1988306" y="5785867"/>
            <a:ext cx="14311387" cy="596900"/>
          </a:xfrm>
          <a:prstGeom prst="rect">
            <a:avLst/>
          </a:prstGeom>
        </p:spPr>
        <p:txBody>
          <a:bodyPr lIns="0" tIns="0" rIns="0" bIns="0" rtlCol="0" anchor="t">
            <a:spAutoFit/>
          </a:bodyPr>
          <a:lstStyle/>
          <a:p>
            <a:pPr marL="0" lvl="0" indent="0" algn="just">
              <a:lnSpc>
                <a:spcPts val="4900"/>
              </a:lnSpc>
            </a:pPr>
            <a:r>
              <a:rPr lang="en-US" sz="3500" b="1" spc="-52">
                <a:solidFill>
                  <a:srgbClr val="000000"/>
                </a:solidFill>
                <a:latin typeface="Prompt Semi-Bold"/>
                <a:ea typeface="Prompt Semi-Bold"/>
                <a:cs typeface="Prompt Semi-Bold"/>
                <a:sym typeface="Prompt Semi-Bold"/>
              </a:rPr>
              <a:t>Ứng dụng thực tế</a:t>
            </a:r>
          </a:p>
        </p:txBody>
      </p:sp>
      <p:sp>
        <p:nvSpPr>
          <p:cNvPr id="6" name="TextBox 6"/>
          <p:cNvSpPr txBox="1"/>
          <p:nvPr/>
        </p:nvSpPr>
        <p:spPr>
          <a:xfrm>
            <a:off x="1965818" y="6610350"/>
            <a:ext cx="14333876" cy="19672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 Refactor code theo chuẩn định sẵn</a:t>
            </a:r>
          </a:p>
          <a:p>
            <a:pPr marL="0" lvl="0" indent="0" algn="just">
              <a:lnSpc>
                <a:spcPts val="3919"/>
              </a:lnSpc>
            </a:pPr>
            <a:r>
              <a:rPr lang="en-US" sz="2799" spc="-41">
                <a:solidFill>
                  <a:srgbClr val="000000"/>
                </a:solidFill>
                <a:latin typeface="Prompt"/>
                <a:ea typeface="Prompt"/>
                <a:cs typeface="Prompt"/>
                <a:sym typeface="Prompt"/>
              </a:rPr>
              <a:t>• Duy trì coding style nhất quán trong dự án</a:t>
            </a:r>
          </a:p>
          <a:p>
            <a:pPr marL="0" lvl="0" indent="0" algn="just">
              <a:lnSpc>
                <a:spcPts val="3919"/>
              </a:lnSpc>
            </a:pPr>
            <a:r>
              <a:rPr lang="en-US" sz="2799" spc="-41">
                <a:solidFill>
                  <a:srgbClr val="000000"/>
                </a:solidFill>
                <a:latin typeface="Prompt"/>
                <a:ea typeface="Prompt"/>
                <a:cs typeface="Prompt"/>
                <a:sym typeface="Prompt"/>
              </a:rPr>
              <a:t>• Sinh code theo template có sẵn</a:t>
            </a:r>
          </a:p>
          <a:p>
            <a:pPr marL="0" lvl="0" indent="0" algn="just">
              <a:lnSpc>
                <a:spcPts val="3919"/>
              </a:lnSpc>
            </a:pPr>
            <a:r>
              <a:rPr lang="en-US" sz="2799" spc="-41">
                <a:solidFill>
                  <a:srgbClr val="000000"/>
                </a:solidFill>
                <a:latin typeface="Prompt"/>
                <a:ea typeface="Prompt"/>
                <a:cs typeface="Prompt"/>
                <a:sym typeface="Prompt"/>
              </a:rPr>
              <a:t>• Tạo documentation theo format chuẩn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23925"/>
            <a:ext cx="12276746" cy="902042"/>
          </a:xfrm>
          <a:prstGeom prst="rect">
            <a:avLst/>
          </a:prstGeom>
        </p:spPr>
        <p:txBody>
          <a:bodyPr lIns="0" tIns="0" rIns="0" bIns="0" rtlCol="0" anchor="t">
            <a:spAutoFit/>
          </a:bodyPr>
          <a:lstStyle/>
          <a:p>
            <a:pPr lvl="0" algn="ctr">
              <a:lnSpc>
                <a:spcPts val="7274"/>
              </a:lnSpc>
            </a:pPr>
            <a:r>
              <a:rPr lang="en-US" sz="5196" b="1" spc="-77" dirty="0" err="1">
                <a:solidFill>
                  <a:srgbClr val="000000"/>
                </a:solidFill>
                <a:latin typeface="Prompt Semi-Bold"/>
                <a:ea typeface="Prompt Semi-Bold"/>
                <a:cs typeface="Prompt Semi-Bold"/>
                <a:sym typeface="Prompt Semi-Bold"/>
              </a:rPr>
              <a:t>Chương</a:t>
            </a:r>
            <a:r>
              <a:rPr lang="en-US" sz="5196" b="1" spc="-77" dirty="0">
                <a:solidFill>
                  <a:srgbClr val="000000"/>
                </a:solidFill>
                <a:latin typeface="Prompt Semi-Bold"/>
                <a:ea typeface="Prompt Semi-Bold"/>
                <a:cs typeface="Prompt Semi-Bold"/>
                <a:sym typeface="Prompt Semi-Bold"/>
              </a:rPr>
              <a:t> 9: </a:t>
            </a:r>
            <a:r>
              <a:rPr lang="en-US" sz="5196" b="1" spc="-77" dirty="0" err="1">
                <a:solidFill>
                  <a:srgbClr val="000000"/>
                </a:solidFill>
                <a:latin typeface="Prompt Semi-Bold"/>
                <a:ea typeface="Prompt Semi-Bold"/>
                <a:cs typeface="Prompt Semi-Bold"/>
                <a:sym typeface="Prompt Semi-Bold"/>
              </a:rPr>
              <a:t>Kỹ</a:t>
            </a:r>
            <a:r>
              <a:rPr lang="en-US" sz="5196" b="1" spc="-77" dirty="0">
                <a:solidFill>
                  <a:srgbClr val="000000"/>
                </a:solidFill>
                <a:latin typeface="Prompt Semi-Bold"/>
                <a:ea typeface="Prompt Semi-Bold"/>
                <a:cs typeface="Prompt Semi-Bold"/>
                <a:sym typeface="Prompt Semi-Bold"/>
              </a:rPr>
              <a:t> </a:t>
            </a:r>
            <a:r>
              <a:rPr lang="en-US" sz="5196" b="1" spc="-77" dirty="0" err="1">
                <a:solidFill>
                  <a:srgbClr val="000000"/>
                </a:solidFill>
                <a:latin typeface="Prompt Semi-Bold"/>
                <a:ea typeface="Prompt Semi-Bold"/>
                <a:cs typeface="Prompt Semi-Bold"/>
                <a:sym typeface="Prompt Semi-Bold"/>
              </a:rPr>
              <a:t>thuật</a:t>
            </a:r>
            <a:r>
              <a:rPr lang="en-US" sz="5196" b="1" spc="-77" dirty="0">
                <a:solidFill>
                  <a:srgbClr val="000000"/>
                </a:solidFill>
                <a:latin typeface="Prompt Semi-Bold"/>
                <a:ea typeface="Prompt Semi-Bold"/>
                <a:cs typeface="Prompt Semi-Bold"/>
                <a:sym typeface="Prompt Semi-Bold"/>
              </a:rPr>
              <a:t> </a:t>
            </a:r>
            <a:r>
              <a:rPr lang="en-US" sz="5196" b="1" spc="-77" dirty="0" err="1">
                <a:solidFill>
                  <a:srgbClr val="000000"/>
                </a:solidFill>
                <a:latin typeface="Prompt Semi-Bold"/>
                <a:ea typeface="Prompt Semi-Bold"/>
                <a:cs typeface="Prompt Semi-Bold"/>
                <a:sym typeface="Prompt Semi-Bold"/>
              </a:rPr>
              <a:t>nâng</a:t>
            </a:r>
            <a:r>
              <a:rPr lang="en-US" sz="5196" b="1" spc="-77" dirty="0">
                <a:solidFill>
                  <a:srgbClr val="000000"/>
                </a:solidFill>
                <a:latin typeface="Prompt Semi-Bold"/>
                <a:ea typeface="Prompt Semi-Bold"/>
                <a:cs typeface="Prompt Semi-Bold"/>
                <a:sym typeface="Prompt Semi-Bold"/>
              </a:rPr>
              <a:t> </a:t>
            </a:r>
            <a:r>
              <a:rPr lang="en-US" sz="5196" b="1" spc="-77" dirty="0" err="1">
                <a:solidFill>
                  <a:srgbClr val="000000"/>
                </a:solidFill>
                <a:latin typeface="Prompt Semi-Bold"/>
                <a:ea typeface="Prompt Semi-Bold"/>
                <a:cs typeface="Prompt Semi-Bold"/>
                <a:sym typeface="Prompt Semi-Bold"/>
              </a:rPr>
              <a:t>cao</a:t>
            </a:r>
            <a:endParaRPr lang="en-US" sz="5196" b="1" spc="-77" dirty="0">
              <a:solidFill>
                <a:srgbClr val="000000"/>
              </a:solidFill>
              <a:latin typeface="Prompt Semi-Bold"/>
              <a:ea typeface="Prompt Semi-Bold"/>
              <a:cs typeface="Prompt Semi-Bold"/>
              <a:sym typeface="Prompt Semi-Bold"/>
            </a:endParaRPr>
          </a:p>
        </p:txBody>
      </p:sp>
      <p:sp>
        <p:nvSpPr>
          <p:cNvPr id="3" name="TextBox 3"/>
          <p:cNvSpPr txBox="1"/>
          <p:nvPr/>
        </p:nvSpPr>
        <p:spPr>
          <a:xfrm>
            <a:off x="1988306" y="2064768"/>
            <a:ext cx="14311387" cy="39484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Chain of Thought (CoT): Hướng dẫn mô hình suy luận từng bước, giúp giải quyết bài toán phức tạp một cách logic.</a:t>
            </a:r>
          </a:p>
          <a:p>
            <a:pPr marL="0" lvl="0" indent="0" algn="just">
              <a:lnSpc>
                <a:spcPts val="3919"/>
              </a:lnSpc>
            </a:pPr>
            <a:r>
              <a:rPr lang="en-US" sz="2799" spc="-41">
                <a:solidFill>
                  <a:srgbClr val="000000"/>
                </a:solidFill>
                <a:latin typeface="Prompt"/>
                <a:ea typeface="Prompt"/>
                <a:cs typeface="Prompt"/>
                <a:sym typeface="Prompt"/>
              </a:rPr>
              <a:t>Prompt Chaining: Chia bài toán lớn thành nhiều prompt nhỏ, xử lý tuần tự để đạt kết quả chính xác hơn.</a:t>
            </a:r>
          </a:p>
          <a:p>
            <a:pPr marL="0" lvl="0" indent="0" algn="just">
              <a:lnSpc>
                <a:spcPts val="3919"/>
              </a:lnSpc>
            </a:pPr>
            <a:r>
              <a:rPr lang="en-US" sz="2799" spc="-41">
                <a:solidFill>
                  <a:srgbClr val="000000"/>
                </a:solidFill>
                <a:latin typeface="Prompt"/>
                <a:ea typeface="Prompt"/>
                <a:cs typeface="Prompt"/>
                <a:sym typeface="Prompt"/>
              </a:rPr>
              <a:t>Tool Use / Function Calling: Cho phép AI gọi hàm thực tế, tương tác với hệ thống bên ngoài.</a:t>
            </a:r>
          </a:p>
          <a:p>
            <a:pPr marL="0" lvl="0" indent="0" algn="just">
              <a:lnSpc>
                <a:spcPts val="3919"/>
              </a:lnSpc>
            </a:pPr>
            <a:r>
              <a:rPr lang="en-US" sz="2799" spc="-41">
                <a:solidFill>
                  <a:srgbClr val="000000"/>
                </a:solidFill>
                <a:latin typeface="Prompt"/>
                <a:ea typeface="Prompt"/>
                <a:cs typeface="Prompt"/>
                <a:sym typeface="Prompt"/>
              </a:rPr>
              <a:t>Self-Consistency: Sinh nhiều câu trả lời và chọn kết quả nhất quán nhất.</a:t>
            </a:r>
          </a:p>
          <a:p>
            <a:pPr marL="0" lvl="0" indent="0" algn="just">
              <a:lnSpc>
                <a:spcPts val="3919"/>
              </a:lnSpc>
            </a:pPr>
            <a:r>
              <a:rPr lang="en-US" sz="2799" spc="-41">
                <a:solidFill>
                  <a:srgbClr val="000000"/>
                </a:solidFill>
                <a:latin typeface="Prompt"/>
                <a:ea typeface="Prompt"/>
                <a:cs typeface="Prompt"/>
                <a:sym typeface="Prompt"/>
              </a:rPr>
              <a:t>Reflection: AI tự kiểm tra, đánh giá và sửa lỗi output của chính mình.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23925"/>
            <a:ext cx="12276746" cy="896620"/>
          </a:xfrm>
          <a:prstGeom prst="rect">
            <a:avLst/>
          </a:prstGeom>
        </p:spPr>
        <p:txBody>
          <a:bodyPr lIns="0" tIns="0" rIns="0" bIns="0" rtlCol="0" anchor="t">
            <a:spAutoFit/>
          </a:bodyPr>
          <a:lstStyle/>
          <a:p>
            <a:pPr marL="0" lvl="0" indent="0" algn="ctr">
              <a:lnSpc>
                <a:spcPts val="7279"/>
              </a:lnSpc>
            </a:pPr>
            <a:r>
              <a:rPr lang="en-US" sz="5199" b="1" spc="-77">
                <a:solidFill>
                  <a:srgbClr val="000000"/>
                </a:solidFill>
                <a:latin typeface="Prompt Semi-Bold"/>
                <a:ea typeface="Prompt Semi-Bold"/>
                <a:cs typeface="Prompt Semi-Bold"/>
                <a:sym typeface="Prompt Semi-Bold"/>
              </a:rPr>
              <a:t>Ví dụ minh họa CoT</a:t>
            </a:r>
          </a:p>
        </p:txBody>
      </p:sp>
      <p:sp>
        <p:nvSpPr>
          <p:cNvPr id="3" name="TextBox 3"/>
          <p:cNvSpPr txBox="1"/>
          <p:nvPr/>
        </p:nvSpPr>
        <p:spPr>
          <a:xfrm>
            <a:off x="1988306" y="2064768"/>
            <a:ext cx="14311387"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Bài toán tính trung bình nhân (Geometric Mean) là một ví dụ điển hình cho thấy sức mạnh của kỹ thuật Chain of Thought. Thay vì yêu cầu mô hình sinh code trực tiếp, CoT hướng dẫn AI suy luận từng bước một cách logic và có hệ thống.</a:t>
            </a:r>
          </a:p>
        </p:txBody>
      </p:sp>
      <p:sp>
        <p:nvSpPr>
          <p:cNvPr id="4" name="TextBox 4"/>
          <p:cNvSpPr txBox="1"/>
          <p:nvPr/>
        </p:nvSpPr>
        <p:spPr>
          <a:xfrm>
            <a:off x="1965818" y="4937263"/>
            <a:ext cx="14311387" cy="24625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CoT giúp mô hình:</a:t>
            </a:r>
          </a:p>
          <a:p>
            <a:pPr marL="0" lvl="0" indent="0" algn="just">
              <a:lnSpc>
                <a:spcPts val="3919"/>
              </a:lnSpc>
            </a:pPr>
            <a:r>
              <a:rPr lang="en-US" sz="2799" spc="-41">
                <a:solidFill>
                  <a:srgbClr val="000000"/>
                </a:solidFill>
                <a:latin typeface="Prompt"/>
                <a:ea typeface="Prompt"/>
                <a:cs typeface="Prompt"/>
                <a:sym typeface="Prompt"/>
              </a:rPr>
              <a:t>• Hiểu logic từng bước – phân tích bài toán trước khi code</a:t>
            </a:r>
          </a:p>
          <a:p>
            <a:pPr marL="0" lvl="0" indent="0" algn="just">
              <a:lnSpc>
                <a:spcPts val="3919"/>
              </a:lnSpc>
            </a:pPr>
            <a:r>
              <a:rPr lang="en-US" sz="2799" spc="-41">
                <a:solidFill>
                  <a:srgbClr val="000000"/>
                </a:solidFill>
                <a:latin typeface="Prompt"/>
                <a:ea typeface="Prompt"/>
                <a:cs typeface="Prompt"/>
                <a:sym typeface="Prompt"/>
              </a:rPr>
              <a:t>• Sinh code chính xác hơn – giảm thiểu sai sót trong thuật toán</a:t>
            </a:r>
          </a:p>
          <a:p>
            <a:pPr marL="0" lvl="0" indent="0" algn="just">
              <a:lnSpc>
                <a:spcPts val="3919"/>
              </a:lnSpc>
            </a:pPr>
            <a:r>
              <a:rPr lang="en-US" sz="2799" spc="-41">
                <a:solidFill>
                  <a:srgbClr val="000000"/>
                </a:solidFill>
                <a:latin typeface="Prompt"/>
                <a:ea typeface="Prompt"/>
                <a:cs typeface="Prompt"/>
                <a:sym typeface="Prompt"/>
              </a:rPr>
              <a:t>• Giảm lỗi logic – phát hiện và tránh các edge cases</a:t>
            </a:r>
          </a:p>
          <a:p>
            <a:pPr marL="0" lvl="0" indent="0" algn="just">
              <a:lnSpc>
                <a:spcPts val="3919"/>
              </a:lnSpc>
            </a:pPr>
            <a:r>
              <a:rPr lang="en-US" sz="2799" spc="-41">
                <a:solidFill>
                  <a:srgbClr val="000000"/>
                </a:solidFill>
                <a:latin typeface="Prompt"/>
                <a:ea typeface="Prompt"/>
                <a:cs typeface="Prompt"/>
                <a:sym typeface="Prompt"/>
              </a:rPr>
              <a:t>• Tăng khả năng debug – dễ dàng kiểm tra từng bước suy luận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1980932" y="876300"/>
            <a:ext cx="13529773" cy="902042"/>
          </a:xfrm>
          <a:prstGeom prst="rect">
            <a:avLst/>
          </a:prstGeom>
        </p:spPr>
        <p:txBody>
          <a:bodyPr wrap="square" lIns="0" tIns="0" rIns="0" bIns="0" rtlCol="0" anchor="t">
            <a:spAutoFit/>
          </a:bodyPr>
          <a:lstStyle/>
          <a:p>
            <a:pPr marL="0" lvl="0" indent="0" algn="ctr">
              <a:lnSpc>
                <a:spcPts val="7274"/>
              </a:lnSpc>
            </a:pPr>
            <a:r>
              <a:rPr lang="en-US" sz="5196" b="1" spc="-77" dirty="0" err="1">
                <a:solidFill>
                  <a:srgbClr val="000000"/>
                </a:solidFill>
                <a:latin typeface="Prompt Semi-Bold"/>
                <a:ea typeface="Prompt Semi-Bold"/>
                <a:cs typeface="Prompt Semi-Bold"/>
                <a:sym typeface="Prompt Semi-Bold"/>
              </a:rPr>
              <a:t>Chương</a:t>
            </a:r>
            <a:r>
              <a:rPr lang="en-US" sz="5196" b="1" spc="-77" dirty="0">
                <a:solidFill>
                  <a:srgbClr val="000000"/>
                </a:solidFill>
                <a:latin typeface="Prompt Semi-Bold"/>
                <a:ea typeface="Prompt Semi-Bold"/>
                <a:cs typeface="Prompt Semi-Bold"/>
                <a:sym typeface="Prompt Semi-Bold"/>
              </a:rPr>
              <a:t> 10: Refactoring Code </a:t>
            </a:r>
            <a:r>
              <a:rPr lang="en-US" sz="5196" b="1" spc="-77" dirty="0" err="1">
                <a:solidFill>
                  <a:srgbClr val="000000"/>
                </a:solidFill>
                <a:latin typeface="Prompt Semi-Bold"/>
                <a:ea typeface="Prompt Semi-Bold"/>
                <a:cs typeface="Prompt Semi-Bold"/>
                <a:sym typeface="Prompt Semi-Bold"/>
              </a:rPr>
              <a:t>với</a:t>
            </a:r>
            <a:r>
              <a:rPr lang="en-US" sz="5196" b="1" spc="-77" dirty="0">
                <a:solidFill>
                  <a:srgbClr val="000000"/>
                </a:solidFill>
                <a:latin typeface="Prompt Semi-Bold"/>
                <a:ea typeface="Prompt Semi-Bold"/>
                <a:cs typeface="Prompt Semi-Bold"/>
                <a:sym typeface="Prompt Semi-Bold"/>
              </a:rPr>
              <a:t> GenAI</a:t>
            </a:r>
          </a:p>
        </p:txBody>
      </p:sp>
      <p:sp>
        <p:nvSpPr>
          <p:cNvPr id="3" name="TextBox 3"/>
          <p:cNvSpPr txBox="1"/>
          <p:nvPr/>
        </p:nvSpPr>
        <p:spPr>
          <a:xfrm>
            <a:off x="1988306" y="2064768"/>
            <a:ext cx="14311387" cy="24625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Mục tiêu: Cải thiện cấu trúc, hiệu năng và khả năng đọc của mã nguồn.</a:t>
            </a:r>
          </a:p>
          <a:p>
            <a:pPr marL="0" lvl="0" indent="0" algn="just">
              <a:lnSpc>
                <a:spcPts val="3919"/>
              </a:lnSpc>
            </a:pPr>
            <a:r>
              <a:rPr lang="en-US" sz="2799" spc="-41">
                <a:solidFill>
                  <a:srgbClr val="000000"/>
                </a:solidFill>
                <a:latin typeface="Prompt"/>
                <a:ea typeface="Prompt"/>
                <a:cs typeface="Prompt"/>
                <a:sym typeface="Prompt"/>
              </a:rPr>
              <a:t>Tách hàm (Modularization): Chia code thành các hàm nhỏ, độc lập, dễ quản lý.</a:t>
            </a:r>
          </a:p>
          <a:p>
            <a:pPr marL="0" lvl="0" indent="0" algn="just">
              <a:lnSpc>
                <a:spcPts val="3919"/>
              </a:lnSpc>
            </a:pPr>
            <a:r>
              <a:rPr lang="en-US" sz="2799" spc="-41">
                <a:solidFill>
                  <a:srgbClr val="000000"/>
                </a:solidFill>
                <a:latin typeface="Prompt"/>
                <a:ea typeface="Prompt"/>
                <a:cs typeface="Prompt"/>
                <a:sym typeface="Prompt"/>
              </a:rPr>
              <a:t>Loại bỏ lặp lại (DRY): Áp dụng nguyên tắc "Don't Repeat Yourself" để giảm trùng lặp.</a:t>
            </a:r>
          </a:p>
          <a:p>
            <a:pPr marL="0" lvl="0" indent="0" algn="just">
              <a:lnSpc>
                <a:spcPts val="3919"/>
              </a:lnSpc>
            </a:pPr>
            <a:r>
              <a:rPr lang="en-US" sz="2799" spc="-41">
                <a:solidFill>
                  <a:srgbClr val="000000"/>
                </a:solidFill>
                <a:latin typeface="Prompt"/>
                <a:ea typeface="Prompt"/>
                <a:cs typeface="Prompt"/>
                <a:sym typeface="Prompt"/>
              </a:rPr>
              <a:t>Tối ưu hiệu năng (Vectorization): Sử dụng NumPy thay vì vòng lặp truyền thống.</a:t>
            </a:r>
          </a:p>
          <a:p>
            <a:pPr marL="0" lvl="0" indent="0" algn="just">
              <a:lnSpc>
                <a:spcPts val="3919"/>
              </a:lnSpc>
            </a:pPr>
            <a:r>
              <a:rPr lang="en-US" sz="2799" spc="-41">
                <a:solidFill>
                  <a:srgbClr val="000000"/>
                </a:solidFill>
                <a:latin typeface="Prompt"/>
                <a:ea typeface="Prompt"/>
                <a:cs typeface="Prompt"/>
                <a:sym typeface="Prompt"/>
              </a:rPr>
              <a:t>Kết quả: Code ngắn gọn, dễ mở rộng và chạy nhanh hơn đáng kể.</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23925"/>
            <a:ext cx="12276746" cy="896620"/>
          </a:xfrm>
          <a:prstGeom prst="rect">
            <a:avLst/>
          </a:prstGeom>
        </p:spPr>
        <p:txBody>
          <a:bodyPr lIns="0" tIns="0" rIns="0" bIns="0" rtlCol="0" anchor="t">
            <a:spAutoFit/>
          </a:bodyPr>
          <a:lstStyle/>
          <a:p>
            <a:pPr marL="0" lvl="0" indent="0" algn="ctr">
              <a:lnSpc>
                <a:spcPts val="7279"/>
              </a:lnSpc>
            </a:pPr>
            <a:r>
              <a:rPr lang="en-US" sz="5199" b="1" spc="-77">
                <a:solidFill>
                  <a:srgbClr val="000000"/>
                </a:solidFill>
                <a:latin typeface="Prompt Semi-Bold"/>
                <a:ea typeface="Prompt Semi-Bold"/>
                <a:cs typeface="Prompt Semi-Bold"/>
                <a:sym typeface="Prompt Semi-Bold"/>
              </a:rPr>
              <a:t>So sánh trước và sau Refactor</a:t>
            </a:r>
          </a:p>
        </p:txBody>
      </p:sp>
      <p:sp>
        <p:nvSpPr>
          <p:cNvPr id="3" name="TextBox 3"/>
          <p:cNvSpPr txBox="1"/>
          <p:nvPr/>
        </p:nvSpPr>
        <p:spPr>
          <a:xfrm>
            <a:off x="1988306" y="2064768"/>
            <a:ext cx="14311387" cy="19672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Trước khi Refactor:</a:t>
            </a:r>
          </a:p>
          <a:p>
            <a:pPr marL="0" lvl="0" indent="0" algn="just">
              <a:lnSpc>
                <a:spcPts val="3919"/>
              </a:lnSpc>
            </a:pPr>
            <a:r>
              <a:rPr lang="en-US" sz="2799" spc="-41">
                <a:solidFill>
                  <a:srgbClr val="000000"/>
                </a:solidFill>
                <a:latin typeface="Prompt"/>
                <a:ea typeface="Prompt"/>
                <a:cs typeface="Prompt"/>
                <a:sym typeface="Prompt"/>
              </a:rPr>
              <a:t>• Cấu trúc: Lặp lại, dài dòng, khó theo dõi</a:t>
            </a:r>
          </a:p>
          <a:p>
            <a:pPr marL="0" lvl="0" indent="0" algn="just">
              <a:lnSpc>
                <a:spcPts val="3919"/>
              </a:lnSpc>
            </a:pPr>
            <a:r>
              <a:rPr lang="en-US" sz="2799" spc="-41">
                <a:solidFill>
                  <a:srgbClr val="000000"/>
                </a:solidFill>
                <a:latin typeface="Prompt"/>
                <a:ea typeface="Prompt"/>
                <a:cs typeface="Prompt"/>
                <a:sym typeface="Prompt"/>
              </a:rPr>
              <a:t>• Hiệu năng: Sử dụng vòng lặp chậm, xử lý tuần tự</a:t>
            </a:r>
          </a:p>
          <a:p>
            <a:pPr marL="0" lvl="0" indent="0" algn="just">
              <a:lnSpc>
                <a:spcPts val="3919"/>
              </a:lnSpc>
            </a:pPr>
            <a:r>
              <a:rPr lang="en-US" sz="2799" spc="-41">
                <a:solidFill>
                  <a:srgbClr val="000000"/>
                </a:solidFill>
                <a:latin typeface="Prompt"/>
                <a:ea typeface="Prompt"/>
                <a:cs typeface="Prompt"/>
                <a:sym typeface="Prompt"/>
              </a:rPr>
              <a:t>• Khả năng mở rộng: Khó thêm tính năng mới, code cứng nhắc</a:t>
            </a:r>
          </a:p>
        </p:txBody>
      </p:sp>
      <p:sp>
        <p:nvSpPr>
          <p:cNvPr id="4" name="TextBox 4"/>
          <p:cNvSpPr txBox="1"/>
          <p:nvPr/>
        </p:nvSpPr>
        <p:spPr>
          <a:xfrm>
            <a:off x="1988306" y="5493768"/>
            <a:ext cx="14311387" cy="19672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Sau khi Refactor với GenAI:</a:t>
            </a:r>
          </a:p>
          <a:p>
            <a:pPr marL="0" lvl="0" indent="0" algn="just">
              <a:lnSpc>
                <a:spcPts val="3919"/>
              </a:lnSpc>
            </a:pPr>
            <a:r>
              <a:rPr lang="en-US" sz="2799" spc="-41">
                <a:solidFill>
                  <a:srgbClr val="000000"/>
                </a:solidFill>
                <a:latin typeface="Prompt"/>
                <a:ea typeface="Prompt"/>
                <a:cs typeface="Prompt"/>
                <a:sym typeface="Prompt"/>
              </a:rPr>
              <a:t>• Cấu trúc: Rõ ràng, tách hàm modular, dễ đọc</a:t>
            </a:r>
          </a:p>
          <a:p>
            <a:pPr marL="0" lvl="0" indent="0" algn="just">
              <a:lnSpc>
                <a:spcPts val="3919"/>
              </a:lnSpc>
            </a:pPr>
            <a:r>
              <a:rPr lang="en-US" sz="2799" spc="-41">
                <a:solidFill>
                  <a:srgbClr val="000000"/>
                </a:solidFill>
                <a:latin typeface="Prompt"/>
                <a:ea typeface="Prompt"/>
                <a:cs typeface="Prompt"/>
                <a:sym typeface="Prompt"/>
              </a:rPr>
              <a:t>• Hiệu năng: NumPy vector hóa, xử lý song song nhanh hơn</a:t>
            </a:r>
          </a:p>
          <a:p>
            <a:pPr marL="0" lvl="0" indent="0" algn="just">
              <a:lnSpc>
                <a:spcPts val="3919"/>
              </a:lnSpc>
            </a:pPr>
            <a:r>
              <a:rPr lang="en-US" sz="2799" spc="-41">
                <a:solidFill>
                  <a:srgbClr val="000000"/>
                </a:solidFill>
                <a:latin typeface="Prompt"/>
                <a:ea typeface="Prompt"/>
                <a:cs typeface="Prompt"/>
                <a:sym typeface="Prompt"/>
              </a:rPr>
              <a:t>• Khả năng mở rộng: Dễ dàng thêm loại distance mới, code linh hoạt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23925"/>
            <a:ext cx="12276746" cy="896620"/>
          </a:xfrm>
          <a:prstGeom prst="rect">
            <a:avLst/>
          </a:prstGeom>
        </p:spPr>
        <p:txBody>
          <a:bodyPr lIns="0" tIns="0" rIns="0" bIns="0" rtlCol="0" anchor="t">
            <a:spAutoFit/>
          </a:bodyPr>
          <a:lstStyle/>
          <a:p>
            <a:pPr lvl="0" algn="ctr">
              <a:lnSpc>
                <a:spcPts val="7279"/>
              </a:lnSpc>
            </a:pPr>
            <a:r>
              <a:rPr lang="en-US" sz="5199" b="1" spc="-77" dirty="0" err="1">
                <a:solidFill>
                  <a:srgbClr val="000000"/>
                </a:solidFill>
                <a:latin typeface="Prompt Semi-Bold"/>
                <a:ea typeface="Prompt Semi-Bold"/>
                <a:cs typeface="Prompt Semi-Bold"/>
                <a:sym typeface="Prompt Semi-Bold"/>
              </a:rPr>
              <a:t>Chương</a:t>
            </a:r>
            <a:r>
              <a:rPr lang="en-US" sz="5199" b="1" spc="-77" dirty="0">
                <a:solidFill>
                  <a:srgbClr val="000000"/>
                </a:solidFill>
                <a:latin typeface="Prompt Semi-Bold"/>
                <a:ea typeface="Prompt Semi-Bold"/>
                <a:cs typeface="Prompt Semi-Bold"/>
                <a:sym typeface="Prompt Semi-Bold"/>
              </a:rPr>
              <a:t> 11: Fine-tuning </a:t>
            </a:r>
            <a:r>
              <a:rPr lang="en-US" sz="5199" b="1" spc="-77" dirty="0" err="1">
                <a:solidFill>
                  <a:srgbClr val="000000"/>
                </a:solidFill>
                <a:latin typeface="Prompt Semi-Bold"/>
                <a:ea typeface="Prompt Semi-Bold"/>
                <a:cs typeface="Prompt Semi-Bold"/>
                <a:sym typeface="Prompt Semi-Bold"/>
              </a:rPr>
              <a:t>với</a:t>
            </a:r>
            <a:r>
              <a:rPr lang="en-US" sz="5199" b="1" spc="-77" dirty="0">
                <a:solidFill>
                  <a:srgbClr val="000000"/>
                </a:solidFill>
                <a:latin typeface="Prompt Semi-Bold"/>
                <a:ea typeface="Prompt Semi-Bold"/>
                <a:cs typeface="Prompt Semi-Bold"/>
                <a:sym typeface="Prompt Semi-Bold"/>
              </a:rPr>
              <a:t> GenAI</a:t>
            </a:r>
          </a:p>
        </p:txBody>
      </p:sp>
      <p:sp>
        <p:nvSpPr>
          <p:cNvPr id="3" name="TextBox 3"/>
          <p:cNvSpPr txBox="1"/>
          <p:nvPr/>
        </p:nvSpPr>
        <p:spPr>
          <a:xfrm>
            <a:off x="1988306" y="2064768"/>
            <a:ext cx="14311387" cy="19672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Khái niệm: Huấn luyện lại mô hình để thích nghi với nhiệm vụ cụ thể. Khác với Few-shot Learning: kiến thức được học lâu dài trong model, output ổn định hơn, không cần prompt dài. Ứng dụng điển hình: sinh code Python từ function signature một cách chính xác và nhất quán.</a:t>
            </a:r>
          </a:p>
        </p:txBody>
      </p:sp>
      <p:sp>
        <p:nvSpPr>
          <p:cNvPr id="4" name="TextBox 4"/>
          <p:cNvSpPr txBox="1"/>
          <p:nvPr/>
        </p:nvSpPr>
        <p:spPr>
          <a:xfrm>
            <a:off x="1965818" y="4937263"/>
            <a:ext cx="14311387" cy="19672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Ưu điểm của Fine-tuning: Mô hình hiểu sâu về domain cụ thể, giảm chi phí token khi sử dụng, kết quả nhất quán qua nhiều lần gọi. Phù hợp cho các tác vụ lặp đi lặp lại như sinh code theo chuẩn coding style của tổ chức, tự động hóa quy trình phát triển phần mềm.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23925"/>
            <a:ext cx="12276746" cy="887188"/>
          </a:xfrm>
          <a:prstGeom prst="rect">
            <a:avLst/>
          </a:prstGeom>
        </p:spPr>
        <p:txBody>
          <a:bodyPr lIns="0" tIns="0" rIns="0" bIns="0" rtlCol="0" anchor="t">
            <a:spAutoFit/>
          </a:bodyPr>
          <a:lstStyle/>
          <a:p>
            <a:pPr marL="0" lvl="0" indent="0" algn="ctr">
              <a:lnSpc>
                <a:spcPts val="7274"/>
              </a:lnSpc>
            </a:pPr>
            <a:r>
              <a:rPr lang="en-US" sz="5196" b="1" spc="-77">
                <a:solidFill>
                  <a:srgbClr val="000000"/>
                </a:solidFill>
                <a:latin typeface="Prompt Semi-Bold"/>
                <a:ea typeface="Prompt Semi-Bold"/>
                <a:cs typeface="Prompt Semi-Bold"/>
                <a:sym typeface="Prompt Semi-Bold"/>
              </a:rPr>
              <a:t>Quy trình Fine-tuning</a:t>
            </a:r>
          </a:p>
        </p:txBody>
      </p:sp>
      <p:sp>
        <p:nvSpPr>
          <p:cNvPr id="3" name="TextBox 3"/>
          <p:cNvSpPr txBox="1"/>
          <p:nvPr/>
        </p:nvSpPr>
        <p:spPr>
          <a:xfrm>
            <a:off x="1988306" y="2064768"/>
            <a:ext cx="14311387" cy="29578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Chuẩn bị dataset (.jsonl) – định dạng dữ liệu chuẩn cho huấn luyện mô hình.</a:t>
            </a:r>
          </a:p>
          <a:p>
            <a:pPr marL="0" lvl="0" indent="0" algn="just">
              <a:lnSpc>
                <a:spcPts val="3919"/>
              </a:lnSpc>
            </a:pPr>
            <a:r>
              <a:rPr lang="en-US" sz="2799" spc="-41">
                <a:solidFill>
                  <a:srgbClr val="000000"/>
                </a:solidFill>
                <a:latin typeface="Prompt"/>
                <a:ea typeface="Prompt"/>
                <a:cs typeface="Prompt"/>
                <a:sym typeface="Prompt"/>
              </a:rPr>
              <a:t>Input: function signature – đầu vào là chữ ký hàm cần sinh code.</a:t>
            </a:r>
          </a:p>
          <a:p>
            <a:pPr marL="0" lvl="0" indent="0" algn="just">
              <a:lnSpc>
                <a:spcPts val="3919"/>
              </a:lnSpc>
            </a:pPr>
            <a:r>
              <a:rPr lang="en-US" sz="2799" spc="-41">
                <a:solidFill>
                  <a:srgbClr val="000000"/>
                </a:solidFill>
                <a:latin typeface="Prompt"/>
                <a:ea typeface="Prompt"/>
                <a:cs typeface="Prompt"/>
                <a:sym typeface="Prompt"/>
              </a:rPr>
              <a:t>Output: code hoàn chỉnh – đầu ra là mã nguồn đầy đủ, sẵn sàng sử dụng.</a:t>
            </a:r>
          </a:p>
          <a:p>
            <a:pPr marL="0" lvl="0" indent="0" algn="just">
              <a:lnSpc>
                <a:spcPts val="3919"/>
              </a:lnSpc>
            </a:pPr>
            <a:r>
              <a:rPr lang="en-US" sz="2799" spc="-41">
                <a:solidFill>
                  <a:srgbClr val="000000"/>
                </a:solidFill>
                <a:latin typeface="Prompt"/>
                <a:ea typeface="Prompt"/>
                <a:cs typeface="Prompt"/>
                <a:sym typeface="Prompt"/>
              </a:rPr>
              <a:t>Huấn luyện bằng OpenAI API (DPO) – sử dụng phương pháp Direct Preference Optimization.</a:t>
            </a:r>
          </a:p>
          <a:p>
            <a:pPr marL="0" lvl="0" indent="0" algn="just">
              <a:lnSpc>
                <a:spcPts val="3919"/>
              </a:lnSpc>
            </a:pPr>
            <a:r>
              <a:rPr lang="en-US" sz="2799" spc="-41">
                <a:solidFill>
                  <a:srgbClr val="000000"/>
                </a:solidFill>
                <a:latin typeface="Prompt"/>
                <a:ea typeface="Prompt"/>
                <a:cs typeface="Prompt"/>
                <a:sym typeface="Prompt"/>
              </a:rPr>
              <a:t>Sử dụng mô hình fine-tuned – sinh code ngắn gọn, không giải thích thừa.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42975"/>
            <a:ext cx="12276746" cy="877570"/>
          </a:xfrm>
          <a:prstGeom prst="rect">
            <a:avLst/>
          </a:prstGeom>
        </p:spPr>
        <p:txBody>
          <a:bodyPr lIns="0" tIns="0" rIns="0" bIns="0" rtlCol="0" anchor="t">
            <a:spAutoFit/>
          </a:bodyPr>
          <a:lstStyle/>
          <a:p>
            <a:pPr marL="0" lvl="0" indent="0" algn="ctr">
              <a:lnSpc>
                <a:spcPts val="7279"/>
              </a:lnSpc>
            </a:pPr>
            <a:r>
              <a:rPr lang="en-US" sz="5199">
                <a:solidFill>
                  <a:srgbClr val="000000"/>
                </a:solidFill>
                <a:latin typeface="Anton"/>
                <a:ea typeface="Anton"/>
                <a:cs typeface="Anton"/>
                <a:sym typeface="Anton"/>
              </a:rPr>
              <a:t>Kết quả Fine-tuning</a:t>
            </a:r>
          </a:p>
        </p:txBody>
      </p:sp>
      <p:sp>
        <p:nvSpPr>
          <p:cNvPr id="3" name="TextBox 3"/>
          <p:cNvSpPr txBox="1"/>
          <p:nvPr/>
        </p:nvSpPr>
        <p:spPr>
          <a:xfrm>
            <a:off x="1988306" y="2055243"/>
            <a:ext cx="14311387" cy="596900"/>
          </a:xfrm>
          <a:prstGeom prst="rect">
            <a:avLst/>
          </a:prstGeom>
        </p:spPr>
        <p:txBody>
          <a:bodyPr lIns="0" tIns="0" rIns="0" bIns="0" rtlCol="0" anchor="t">
            <a:spAutoFit/>
          </a:bodyPr>
          <a:lstStyle/>
          <a:p>
            <a:pPr marL="0" lvl="0" indent="0" algn="just">
              <a:lnSpc>
                <a:spcPts val="4900"/>
              </a:lnSpc>
            </a:pPr>
            <a:r>
              <a:rPr lang="en-US" sz="3500" b="1" spc="-52">
                <a:solidFill>
                  <a:srgbClr val="000000"/>
                </a:solidFill>
                <a:latin typeface="Prompt Semi-Bold"/>
                <a:ea typeface="Prompt Semi-Bold"/>
                <a:cs typeface="Prompt Semi-Bold"/>
                <a:sym typeface="Prompt Semi-Bold"/>
              </a:rPr>
              <a:t>Hiệu quả của mô hình sau Fine-tuning</a:t>
            </a:r>
          </a:p>
        </p:txBody>
      </p:sp>
      <p:sp>
        <p:nvSpPr>
          <p:cNvPr id="4" name="TextBox 4"/>
          <p:cNvSpPr txBox="1"/>
          <p:nvPr/>
        </p:nvSpPr>
        <p:spPr>
          <a:xfrm>
            <a:off x="1965818" y="2899792"/>
            <a:ext cx="14333876"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Mô hình sinh code chính xác hơn, đáp ứng đúng yêu cầu từ function signature. Loại bỏ phần giải thích không cần thiết, chỉ trả về code thuần túy. Tuân thủ nguyên tắc clean code, dễ đọc và bảo trì.</a:t>
            </a:r>
          </a:p>
        </p:txBody>
      </p:sp>
      <p:sp>
        <p:nvSpPr>
          <p:cNvPr id="5" name="TextBox 5"/>
          <p:cNvSpPr txBox="1"/>
          <p:nvPr/>
        </p:nvSpPr>
        <p:spPr>
          <a:xfrm>
            <a:off x="1988306" y="5785867"/>
            <a:ext cx="14311387" cy="596900"/>
          </a:xfrm>
          <a:prstGeom prst="rect">
            <a:avLst/>
          </a:prstGeom>
        </p:spPr>
        <p:txBody>
          <a:bodyPr lIns="0" tIns="0" rIns="0" bIns="0" rtlCol="0" anchor="t">
            <a:spAutoFit/>
          </a:bodyPr>
          <a:lstStyle/>
          <a:p>
            <a:pPr marL="0" lvl="0" indent="0" algn="just">
              <a:lnSpc>
                <a:spcPts val="4900"/>
              </a:lnSpc>
            </a:pPr>
            <a:r>
              <a:rPr lang="en-US" sz="3500" b="1" spc="-52">
                <a:solidFill>
                  <a:srgbClr val="000000"/>
                </a:solidFill>
                <a:latin typeface="Prompt Semi-Bold"/>
                <a:ea typeface="Prompt Semi-Bold"/>
                <a:cs typeface="Prompt Semi-Bold"/>
                <a:sym typeface="Prompt Semi-Bold"/>
              </a:rPr>
              <a:t>Lợi ích về chi phí và thời gian</a:t>
            </a:r>
          </a:p>
        </p:txBody>
      </p:sp>
      <p:sp>
        <p:nvSpPr>
          <p:cNvPr id="6" name="TextBox 6"/>
          <p:cNvSpPr txBox="1"/>
          <p:nvPr/>
        </p:nvSpPr>
        <p:spPr>
          <a:xfrm>
            <a:off x="1965818" y="6610350"/>
            <a:ext cx="14333876" cy="14719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Giảm đáng kể chi phí và thời gian chỉnh sửa code sau khi sinh. Output ổn định, không cần prompt dài như few-shot learning. Tăng năng suất làm việc của lập trình viên khi sử dụng GenAI.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extBox 2"/>
          <p:cNvSpPr txBox="1"/>
          <p:nvPr/>
        </p:nvSpPr>
        <p:spPr>
          <a:xfrm>
            <a:off x="3005627" y="923925"/>
            <a:ext cx="12276746" cy="887188"/>
          </a:xfrm>
          <a:prstGeom prst="rect">
            <a:avLst/>
          </a:prstGeom>
        </p:spPr>
        <p:txBody>
          <a:bodyPr lIns="0" tIns="0" rIns="0" bIns="0" rtlCol="0" anchor="t">
            <a:spAutoFit/>
          </a:bodyPr>
          <a:lstStyle/>
          <a:p>
            <a:pPr marL="0" lvl="0" indent="0" algn="ctr">
              <a:lnSpc>
                <a:spcPts val="7274"/>
              </a:lnSpc>
            </a:pPr>
            <a:r>
              <a:rPr lang="en-US" sz="5196" b="1" spc="-77">
                <a:solidFill>
                  <a:srgbClr val="000000"/>
                </a:solidFill>
                <a:latin typeface="Prompt Semi-Bold"/>
                <a:ea typeface="Prompt Semi-Bold"/>
                <a:cs typeface="Prompt Semi-Bold"/>
                <a:sym typeface="Prompt Semi-Bold"/>
              </a:rPr>
              <a:t>Tổng kết</a:t>
            </a:r>
          </a:p>
        </p:txBody>
      </p:sp>
      <p:sp>
        <p:nvSpPr>
          <p:cNvPr id="3" name="TextBox 3"/>
          <p:cNvSpPr txBox="1"/>
          <p:nvPr/>
        </p:nvSpPr>
        <p:spPr>
          <a:xfrm>
            <a:off x="1988306" y="2064768"/>
            <a:ext cx="14311387" cy="3453130"/>
          </a:xfrm>
          <a:prstGeom prst="rect">
            <a:avLst/>
          </a:prstGeom>
        </p:spPr>
        <p:txBody>
          <a:bodyPr lIns="0" tIns="0" rIns="0" bIns="0" rtlCol="0" anchor="t">
            <a:spAutoFit/>
          </a:bodyPr>
          <a:lstStyle/>
          <a:p>
            <a:pPr marL="0" lvl="0" indent="0" algn="just">
              <a:lnSpc>
                <a:spcPts val="3919"/>
              </a:lnSpc>
            </a:pPr>
            <a:r>
              <a:rPr lang="en-US" sz="2799" spc="-41">
                <a:solidFill>
                  <a:srgbClr val="000000"/>
                </a:solidFill>
                <a:latin typeface="Prompt"/>
                <a:ea typeface="Prompt"/>
                <a:cs typeface="Prompt"/>
                <a:sym typeface="Prompt"/>
              </a:rPr>
              <a:t>GenAI giúp hiểu và sinh code hiệu quả, tăng tốc quá trình phát triển phần mềm.</a:t>
            </a:r>
          </a:p>
          <a:p>
            <a:pPr marL="0" lvl="0" indent="0" algn="just">
              <a:lnSpc>
                <a:spcPts val="3919"/>
              </a:lnSpc>
            </a:pPr>
            <a:r>
              <a:rPr lang="en-US" sz="2799" spc="-41">
                <a:solidFill>
                  <a:srgbClr val="000000"/>
                </a:solidFill>
                <a:latin typeface="Prompt"/>
                <a:ea typeface="Prompt"/>
                <a:cs typeface="Prompt"/>
                <a:sym typeface="Prompt"/>
              </a:rPr>
              <a:t>Cải thiện chất lượng phần mềm thông qua refactoring, phát hiện lỗi và tối ưu hóa code.</a:t>
            </a:r>
          </a:p>
          <a:p>
            <a:pPr marL="0" lvl="0" indent="0" algn="just">
              <a:lnSpc>
                <a:spcPts val="3919"/>
              </a:lnSpc>
            </a:pPr>
            <a:r>
              <a:rPr lang="en-US" sz="2799" spc="-41">
                <a:solidFill>
                  <a:srgbClr val="000000"/>
                </a:solidFill>
                <a:latin typeface="Prompt"/>
                <a:ea typeface="Prompt"/>
                <a:cs typeface="Prompt"/>
                <a:sym typeface="Prompt"/>
              </a:rPr>
              <a:t>Tăng năng suất lập trình viên nhờ tự động hóa các tác vụ lặp lại và hỗ trợ học tập.</a:t>
            </a:r>
          </a:p>
          <a:p>
            <a:pPr marL="0" lvl="0" indent="0" algn="just">
              <a:lnSpc>
                <a:spcPts val="3919"/>
              </a:lnSpc>
            </a:pPr>
            <a:r>
              <a:rPr lang="en-US" sz="2799" spc="-41">
                <a:solidFill>
                  <a:srgbClr val="000000"/>
                </a:solidFill>
                <a:latin typeface="Prompt"/>
                <a:ea typeface="Prompt"/>
                <a:cs typeface="Prompt"/>
                <a:sym typeface="Prompt"/>
              </a:rPr>
              <a:t>Tương lai: Kết hợp GenAI với quy trình phát triển phần mềm hiện đại (CI/CD, DevOps).</a:t>
            </a:r>
          </a:p>
          <a:p>
            <a:pPr marL="0" lvl="0" indent="0" algn="just">
              <a:lnSpc>
                <a:spcPts val="3919"/>
              </a:lnSpc>
            </a:pPr>
            <a:r>
              <a:rPr lang="en-US" sz="2799" spc="-41">
                <a:solidFill>
                  <a:srgbClr val="000000"/>
                </a:solidFill>
                <a:latin typeface="Prompt"/>
                <a:ea typeface="Prompt"/>
                <a:cs typeface="Prompt"/>
                <a:sym typeface="Prompt"/>
              </a:rPr>
              <a:t>Mục tiêu cuối cùng: Tối đa hiệu quả trong toàn bộ vòng đời phát triển phần mềm.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33333">
              <a:srgbClr val="F5FCFF">
                <a:alpha val="100000"/>
              </a:srgbClr>
            </a:gs>
            <a:gs pos="66667">
              <a:srgbClr val="E9FAFF">
                <a:alpha val="100000"/>
              </a:srgbClr>
            </a:gs>
            <a:gs pos="100000">
              <a:srgbClr val="D4FDFE">
                <a:alpha val="100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Freeform 2"/>
          <p:cNvSpPr/>
          <p:nvPr/>
        </p:nvSpPr>
        <p:spPr>
          <a:xfrm>
            <a:off x="-6674777" y="572780"/>
            <a:ext cx="14284551" cy="10427722"/>
          </a:xfrm>
          <a:custGeom>
            <a:avLst/>
            <a:gdLst/>
            <a:ahLst/>
            <a:cxnLst/>
            <a:rect l="l" t="t" r="r" b="b"/>
            <a:pathLst>
              <a:path w="14284551" h="10427722">
                <a:moveTo>
                  <a:pt x="0" y="0"/>
                </a:moveTo>
                <a:lnTo>
                  <a:pt x="14284551" y="0"/>
                </a:lnTo>
                <a:lnTo>
                  <a:pt x="14284551" y="10427722"/>
                </a:lnTo>
                <a:lnTo>
                  <a:pt x="0" y="10427722"/>
                </a:lnTo>
                <a:lnTo>
                  <a:pt x="0" y="0"/>
                </a:lnTo>
                <a:close/>
              </a:path>
            </a:pathLst>
          </a:custGeom>
          <a:blipFill>
            <a:blip r:embed="rId2">
              <a:alphaModFix amt="73000"/>
            </a:blip>
            <a:stretch>
              <a:fillRect/>
            </a:stretch>
          </a:blipFill>
        </p:spPr>
        <p:txBody>
          <a:bodyPr/>
          <a:lstStyle/>
          <a:p>
            <a:endParaRPr lang="vi-VN"/>
          </a:p>
        </p:txBody>
      </p:sp>
      <p:sp>
        <p:nvSpPr>
          <p:cNvPr id="3" name="TextBox 3"/>
          <p:cNvSpPr txBox="1"/>
          <p:nvPr/>
        </p:nvSpPr>
        <p:spPr>
          <a:xfrm>
            <a:off x="3005627" y="2617218"/>
            <a:ext cx="12276746" cy="2545885"/>
          </a:xfrm>
          <a:prstGeom prst="rect">
            <a:avLst/>
          </a:prstGeom>
        </p:spPr>
        <p:txBody>
          <a:bodyPr lIns="0" tIns="0" rIns="0" bIns="0" rtlCol="0" anchor="t">
            <a:spAutoFit/>
          </a:bodyPr>
          <a:lstStyle/>
          <a:p>
            <a:pPr marL="0" lvl="0" indent="0" algn="ctr">
              <a:lnSpc>
                <a:spcPts val="18786"/>
              </a:lnSpc>
            </a:pPr>
            <a:r>
              <a:rPr lang="en-US" sz="19985">
                <a:solidFill>
                  <a:srgbClr val="000000"/>
                </a:solidFill>
                <a:latin typeface="Anton"/>
                <a:ea typeface="Anton"/>
                <a:cs typeface="Anton"/>
                <a:sym typeface="Anton"/>
              </a:rPr>
              <a:t>Cảm 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1717</Words>
  <Application>Microsoft Office PowerPoint</Application>
  <PresentationFormat>Custom</PresentationFormat>
  <Paragraphs>119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Prompt Semi-Bold</vt:lpstr>
      <vt:lpstr>Prompt</vt:lpstr>
      <vt:lpstr>Anton</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&amp; Black Minimalist Project Presentation</dc:title>
  <cp:lastModifiedBy>Hào Đặng</cp:lastModifiedBy>
  <cp:revision>3</cp:revision>
  <dcterms:created xsi:type="dcterms:W3CDTF">2006-08-16T00:00:00Z</dcterms:created>
  <dcterms:modified xsi:type="dcterms:W3CDTF">2026-03-19T10:41:24Z</dcterms:modified>
  <dc:identifier>DAHEYmLvnvA</dc:identifier>
</cp:coreProperties>
</file>